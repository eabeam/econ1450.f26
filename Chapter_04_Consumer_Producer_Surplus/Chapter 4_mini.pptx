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tags/tag8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303" r:id="rId4"/>
    <p:sldId id="305" r:id="rId5"/>
    <p:sldId id="306" r:id="rId6"/>
    <p:sldId id="307" r:id="rId7"/>
    <p:sldId id="308" r:id="rId8"/>
    <p:sldId id="310" r:id="rId9"/>
    <p:sldId id="311" r:id="rId10"/>
    <p:sldId id="313" r:id="rId11"/>
    <p:sldId id="333" r:id="rId12"/>
    <p:sldId id="334" r:id="rId13"/>
    <p:sldId id="33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43" autoAdjust="0"/>
    <p:restoredTop sz="86408" autoAdjust="0"/>
  </p:normalViewPr>
  <p:slideViewPr>
    <p:cSldViewPr snapToGrid="0" snapToObjects="1">
      <p:cViewPr varScale="1">
        <p:scale>
          <a:sx n="90" d="100"/>
          <a:sy n="90" d="100"/>
        </p:scale>
        <p:origin x="232" y="4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674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581990-84CE-C647-ADEC-A8E551143DFA}" type="datetimeFigureOut">
              <a:rPr lang="en-US" smtClean="0"/>
              <a:t>2/4/21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01102-5129-DB4A-9177-FEFA88960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7927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272A29-44EA-564F-BFC0-FE411F7E7C6F}" type="datetimeFigureOut">
              <a:rPr lang="en-US" smtClean="0"/>
              <a:t>2/4/21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B353AC-5D98-9B4C-A6D7-C10F90459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229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dirty="0"/>
              <a:t>With a partner, discuss and be ready to share: </a:t>
            </a:r>
          </a:p>
          <a:p>
            <a:pPr>
              <a:spcAft>
                <a:spcPts val="600"/>
              </a:spcAft>
              <a:buFont typeface="Arial" charset="0"/>
              <a:buChar char="•"/>
            </a:pPr>
            <a:r>
              <a:rPr lang="en-US" b="1" dirty="0"/>
              <a:t>Are you in favor of legalizing the sale of kidneys? </a:t>
            </a:r>
            <a:r>
              <a:rPr lang="en-US" dirty="0"/>
              <a:t> Why or why not?</a:t>
            </a:r>
          </a:p>
          <a:p>
            <a:pPr>
              <a:spcAft>
                <a:spcPts val="600"/>
              </a:spcAft>
              <a:buFont typeface="Arial" charset="0"/>
              <a:buChar char="•"/>
            </a:pPr>
            <a:r>
              <a:rPr lang="en-US" dirty="0"/>
              <a:t>Do you support the move to distribute organs in the United States based on “net benefit” rather than simply who’s been on the waiting list longest?  Why or why not?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657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0B7FF9-1FC0-4975-AEFB-6B5D13B667D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99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en-US" sz="1200" dirty="0">
                <a:solidFill>
                  <a:schemeClr val="accent6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CONSUMER SURPLUS </a:t>
            </a:r>
            <a:r>
              <a:rPr lang="en-US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IS A FORM OF SAVING BECAUSE CONSUMERS ARE WILLING TO PAY MORE THAN THE MARKET PRICE.</a:t>
            </a:r>
          </a:p>
          <a:p>
            <a:pPr algn="l"/>
            <a:endParaRPr lang="en-US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200" dirty="0">
                <a:solidFill>
                  <a:schemeClr val="accent6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PRODUCER SURPLUS </a:t>
            </a:r>
            <a:r>
              <a:rPr lang="en-US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IS A FORM OF EARNING BECAUSE BUSINESSES ARE WILLING TO PROVIDE A GOOD OR SERVICE BELOW THE MARKET PRICE.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C9249-343B-4722-9764-1BA316ECD67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045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C9249-343B-4722-9764-1BA316ECD67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901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C9249-343B-4722-9764-1BA316ECD67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095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C9249-343B-4722-9764-1BA316ECD67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6228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C9249-343B-4722-9764-1BA316ECD67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4552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b="1" dirty="0"/>
              <a:t>Total surplus is maximized with markets: Markets are efficient.</a:t>
            </a:r>
          </a:p>
          <a:p>
            <a:pPr>
              <a:spcAft>
                <a:spcPts val="600"/>
              </a:spcAft>
            </a:pPr>
            <a:r>
              <a:rPr lang="en-US" b="1" dirty="0"/>
              <a:t>Three ways you might (unsuccessfully) try to increase the total surplus</a:t>
            </a:r>
          </a:p>
          <a:p>
            <a:pPr marL="914400" indent="-447675">
              <a:spcAft>
                <a:spcPts val="600"/>
              </a:spcAft>
              <a:buFont typeface="+mj-lt"/>
              <a:buAutoNum type="arabicPeriod"/>
            </a:pPr>
            <a:r>
              <a:rPr lang="en-US" sz="1200" dirty="0"/>
              <a:t>reallocate consumption among consumers</a:t>
            </a:r>
          </a:p>
          <a:p>
            <a:pPr marL="914400" indent="-447675" eaLnBrk="1" hangingPunct="1">
              <a:spcAft>
                <a:spcPts val="600"/>
              </a:spcAft>
              <a:buFont typeface="+mj-lt"/>
              <a:buAutoNum type="arabicPeriod"/>
            </a:pPr>
            <a:r>
              <a:rPr lang="en-US" sz="1200" dirty="0"/>
              <a:t>reallocate sales among sellers</a:t>
            </a:r>
          </a:p>
          <a:p>
            <a:pPr marL="914400" indent="-447675">
              <a:spcAft>
                <a:spcPts val="600"/>
              </a:spcAft>
              <a:buFont typeface="+mj-lt"/>
              <a:buAutoNum type="arabicPeriod"/>
            </a:pPr>
            <a:r>
              <a:rPr lang="en-US" sz="1200" dirty="0"/>
              <a:t>change the quantity traded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C9249-343B-4722-9764-1BA316ECD67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878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C9249-343B-4722-9764-1BA316ECD67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59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C9249-343B-4722-9764-1BA316ECD67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077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Mutually beneficial Every consumer who makes a purchase values the good more than every seller who makes a sale.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0331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Prices translate complex information into an easy signal for producers:</a:t>
            </a:r>
          </a:p>
          <a:p>
            <a:pPr marL="914400" lvl="1" indent="-447675"/>
            <a:r>
              <a:rPr lang="en-US" b="1" dirty="0">
                <a:ea typeface="MS PGothic" pitchFamily="34" charset="-128"/>
              </a:rPr>
              <a:t>Profits rise in industries when consumers want more of that industry’s products.</a:t>
            </a:r>
          </a:p>
          <a:p>
            <a:pPr marL="914400" lvl="1" indent="-447675"/>
            <a:r>
              <a:rPr lang="en-US" b="1" dirty="0">
                <a:ea typeface="MS PGothic" pitchFamily="34" charset="-128"/>
              </a:rPr>
              <a:t>Profits decline in industries when consumers want less of that industry’s products.</a:t>
            </a:r>
          </a:p>
          <a:p>
            <a:pPr marL="914400" lvl="1" indent="-447675" eaLnBrk="1" hangingPunct="1"/>
            <a:r>
              <a:rPr lang="en-US" i="1" dirty="0"/>
              <a:t>The high price of ice in post-Katrina New Orleans made it more attractive for firms to provide ice where society needed it most.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191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C9249-343B-4722-9764-1BA316ECD67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84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latin typeface="Open Sans Condensed" charset="0"/>
                <a:ea typeface="Open Sans Condensed" charset="0"/>
                <a:cs typeface="Open Sans Condensed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2/4/21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63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Open Sans Condensed" charset="0"/>
                <a:ea typeface="Open Sans Condensed" charset="0"/>
                <a:cs typeface="Open Sans Condensed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Open Sans" charset="0"/>
                <a:ea typeface="Open Sans" charset="0"/>
                <a:cs typeface="Open Sans" charset="0"/>
              </a:defRPr>
            </a:lvl1pPr>
            <a:lvl2pPr>
              <a:defRPr>
                <a:latin typeface="Open Sans" charset="0"/>
                <a:ea typeface="Open Sans" charset="0"/>
                <a:cs typeface="Open Sans" charset="0"/>
              </a:defRPr>
            </a:lvl2pPr>
            <a:lvl3pPr>
              <a:defRPr>
                <a:latin typeface="Open Sans" charset="0"/>
                <a:ea typeface="Open Sans" charset="0"/>
                <a:cs typeface="Open Sans" charset="0"/>
              </a:defRPr>
            </a:lvl3pPr>
            <a:lvl4pPr>
              <a:defRPr>
                <a:latin typeface="Open Sans" charset="0"/>
                <a:ea typeface="Open Sans" charset="0"/>
                <a:cs typeface="Open Sans" charset="0"/>
              </a:defRPr>
            </a:lvl4pPr>
            <a:lvl5pPr>
              <a:defRPr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2/4/21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867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2/4/21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42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2/4/21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7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2/4/21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04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2/4/21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890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2/4/21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836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2/4/21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414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2/4/21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577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2/4/21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59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2/4/21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35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1313" indent="0"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1pPr>
            <a:lvl2pPr marL="742950" indent="0"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2pPr>
            <a:lvl3pPr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3pPr>
            <a:lvl4pPr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4pPr>
            <a:lvl5pPr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ight Arrow 8">
            <a:hlinkClick r:id="" action="ppaction://noaction"/>
          </p:cNvPr>
          <p:cNvSpPr/>
          <p:nvPr userDrawn="1"/>
        </p:nvSpPr>
        <p:spPr>
          <a:xfrm>
            <a:off x="0" y="6081474"/>
            <a:ext cx="2032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pic>
        <p:nvPicPr>
          <p:cNvPr id="10" name="Picture 9">
            <a:hlinkClick r:id="" action="ppaction://noaction"/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32661" y="6028189"/>
            <a:ext cx="1524000" cy="856979"/>
          </a:xfrm>
          <a:prstGeom prst="rect">
            <a:avLst/>
          </a:prstGeom>
        </p:spPr>
      </p:pic>
      <p:cxnSp>
        <p:nvCxnSpPr>
          <p:cNvPr id="15" name="Straight Connector 14"/>
          <p:cNvCxnSpPr/>
          <p:nvPr userDrawn="1"/>
        </p:nvCxnSpPr>
        <p:spPr>
          <a:xfrm>
            <a:off x="0" y="1219200"/>
            <a:ext cx="12192000" cy="0"/>
          </a:xfrm>
          <a:prstGeom prst="line">
            <a:avLst/>
          </a:prstGeom>
          <a:ln w="76200" cmpd="sng">
            <a:solidFill>
              <a:srgbClr val="F8EF59">
                <a:alpha val="49000"/>
              </a:srgbClr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0" y="5791200"/>
            <a:ext cx="12192000" cy="0"/>
          </a:xfrm>
          <a:prstGeom prst="line">
            <a:avLst/>
          </a:prstGeom>
          <a:ln w="76200" cmpd="sng">
            <a:solidFill>
              <a:srgbClr val="F8EF59">
                <a:alpha val="49000"/>
              </a:srgbClr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650938" y="6603259"/>
            <a:ext cx="9462657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    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sp>
        <p:nvSpPr>
          <p:cNvPr id="4" name="Down Arrow Callout 3"/>
          <p:cNvSpPr/>
          <p:nvPr userDrawn="1"/>
        </p:nvSpPr>
        <p:spPr>
          <a:xfrm>
            <a:off x="0" y="-29407"/>
            <a:ext cx="4267200" cy="1676400"/>
          </a:xfrm>
          <a:prstGeom prst="downArrowCallout">
            <a:avLst>
              <a:gd name="adj1" fmla="val 32640"/>
              <a:gd name="adj2" fmla="val 28183"/>
              <a:gd name="adj3" fmla="val 25000"/>
              <a:gd name="adj4" fmla="val 61794"/>
            </a:avLst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effectLst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1"/>
            <a:ext cx="426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effectLst/>
              </a:rPr>
              <a:t>     What you will learn in this chapter</a:t>
            </a:r>
          </a:p>
        </p:txBody>
      </p:sp>
      <p:sp>
        <p:nvSpPr>
          <p:cNvPr id="6" name="Isosceles Triangle 5"/>
          <p:cNvSpPr/>
          <p:nvPr userDrawn="1"/>
        </p:nvSpPr>
        <p:spPr>
          <a:xfrm rot="5400000">
            <a:off x="177801" y="50800"/>
            <a:ext cx="304799" cy="355600"/>
          </a:xfrm>
          <a:prstGeom prst="triangle">
            <a:avLst>
              <a:gd name="adj" fmla="val 5259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7206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38400" y="2438401"/>
            <a:ext cx="6993467" cy="3932581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143000"/>
            <a:ext cx="11582400" cy="1371600"/>
          </a:xfrm>
        </p:spPr>
        <p:txBody>
          <a:bodyPr>
            <a:noAutofit/>
          </a:bodyPr>
          <a:lstStyle>
            <a:lvl1pPr>
              <a:defRPr sz="3200" baseline="0">
                <a:latin typeface="Century Gothic"/>
                <a:cs typeface="Century Gothic"/>
              </a:defRPr>
            </a:lvl1pPr>
            <a:lvl2pPr>
              <a:defRPr sz="2800" baseline="0">
                <a:latin typeface="Century Gothic"/>
                <a:cs typeface="Century Gothic"/>
              </a:defRPr>
            </a:lvl2pPr>
            <a:lvl3pPr>
              <a:defRPr sz="2400" baseline="0">
                <a:latin typeface="Candara" pitchFamily="34" charset="0"/>
              </a:defRPr>
            </a:lvl3pPr>
            <a:lvl4pPr>
              <a:defRPr sz="2000" baseline="0">
                <a:latin typeface="Candara" pitchFamily="34" charset="0"/>
              </a:defRPr>
            </a:lvl4pPr>
            <a:lvl5pPr>
              <a:defRPr sz="20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650938" y="6603259"/>
            <a:ext cx="9462657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    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944708377"/>
      </p:ext>
    </p:extLst>
  </p:cSld>
  <p:clrMapOvr>
    <a:masterClrMapping/>
  </p:clrMapOvr>
  <p:transition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650938" y="6603259"/>
            <a:ext cx="9462657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    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003967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232B5-97B6-0F44-BC46-2CF286C69536}" type="datetimeFigureOut">
              <a:rPr lang="en-US" smtClean="0"/>
              <a:t>2/4/21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06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Calibri Light"/>
          <a:ea typeface="+mj-ea"/>
          <a:cs typeface="Calibri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Calibri Light"/>
          <a:ea typeface="+mn-ea"/>
          <a:cs typeface="Calibri Light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libri Light"/>
          <a:ea typeface="+mn-ea"/>
          <a:cs typeface="Calibri Light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Calibri Light"/>
          <a:ea typeface="+mn-ea"/>
          <a:cs typeface="Calibri Ligh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Calibri Ligh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libri Light"/>
          <a:ea typeface="+mn-ea"/>
          <a:cs typeface="Calibri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692096"/>
            <a:ext cx="7772400" cy="1470025"/>
          </a:xfrm>
        </p:spPr>
        <p:txBody>
          <a:bodyPr>
            <a:normAutofit/>
          </a:bodyPr>
          <a:lstStyle/>
          <a:p>
            <a:r>
              <a:rPr lang="en-US" b="1" dirty="0"/>
              <a:t>Consumer and Producer Surplus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5702263"/>
            <a:ext cx="6400800" cy="17526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Open Sans Condensed" charset="0"/>
                <a:ea typeface="Open Sans Condensed" charset="0"/>
                <a:cs typeface="Open Sans Condensed" charset="0"/>
              </a:rPr>
              <a:t>Chapter 4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0171C2A-CD60-FE4D-B61A-863FA0550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350" y="157162"/>
            <a:ext cx="811530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310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Learning objectives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Calculate </a:t>
            </a:r>
            <a:r>
              <a:rPr lang="en-US" sz="2800" b="1" dirty="0">
                <a:solidFill>
                  <a:srgbClr val="0070C0"/>
                </a:solidFill>
              </a:rPr>
              <a:t>consumer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and </a:t>
            </a:r>
            <a:r>
              <a:rPr lang="en-US" sz="2800" b="1" dirty="0">
                <a:solidFill>
                  <a:srgbClr val="0070C0"/>
                </a:solidFill>
              </a:rPr>
              <a:t>producer surplus </a:t>
            </a:r>
          </a:p>
          <a:p>
            <a:r>
              <a:rPr lang="en-US" sz="2800" dirty="0"/>
              <a:t>Define and identify </a:t>
            </a:r>
            <a:r>
              <a:rPr lang="en-US" sz="2800" b="1" dirty="0">
                <a:solidFill>
                  <a:srgbClr val="0070C0"/>
                </a:solidFill>
              </a:rPr>
              <a:t>deadweight loss </a:t>
            </a:r>
            <a:endParaRPr lang="en-US" sz="2800" b="1" dirty="0"/>
          </a:p>
          <a:p>
            <a:r>
              <a:rPr lang="en-US" sz="2800" dirty="0"/>
              <a:t>When markets lead to </a:t>
            </a:r>
            <a:r>
              <a:rPr lang="en-US" sz="2800" b="1" dirty="0">
                <a:solidFill>
                  <a:srgbClr val="0070C0"/>
                </a:solidFill>
              </a:rPr>
              <a:t>efficiency</a:t>
            </a:r>
          </a:p>
          <a:p>
            <a:r>
              <a:rPr lang="en-US" sz="2800" dirty="0"/>
              <a:t>Types of </a:t>
            </a:r>
            <a:r>
              <a:rPr lang="en-US" sz="2800" b="1" dirty="0">
                <a:solidFill>
                  <a:srgbClr val="0070C0"/>
                </a:solidFill>
              </a:rPr>
              <a:t>market failures</a:t>
            </a:r>
          </a:p>
        </p:txBody>
      </p:sp>
    </p:spTree>
    <p:extLst>
      <p:ext uri="{BB962C8B-B14F-4D97-AF65-F5344CB8AC3E}">
        <p14:creationId xmlns:p14="http://schemas.microsoft.com/office/powerpoint/2010/main" val="3881726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>
            <a:cxnSpLocks noChangeShapeType="1"/>
          </p:cNvCxnSpPr>
          <p:nvPr/>
        </p:nvCxnSpPr>
        <p:spPr bwMode="auto">
          <a:xfrm>
            <a:off x="3429000" y="5943600"/>
            <a:ext cx="2834640" cy="0"/>
          </a:xfrm>
          <a:prstGeom prst="line">
            <a:avLst/>
          </a:prstGeom>
          <a:noFill/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0" name="Parallelogram 29"/>
          <p:cNvSpPr/>
          <p:nvPr/>
        </p:nvSpPr>
        <p:spPr>
          <a:xfrm>
            <a:off x="6096000" y="5717862"/>
            <a:ext cx="1676400" cy="378138"/>
          </a:xfrm>
          <a:prstGeom prst="parallelogram">
            <a:avLst>
              <a:gd name="adj" fmla="val 81594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524000" y="0"/>
            <a:ext cx="9144000" cy="914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>
            <a:cxnSpLocks noChangeShapeType="1"/>
          </p:cNvCxnSpPr>
          <p:nvPr/>
        </p:nvCxnSpPr>
        <p:spPr bwMode="auto">
          <a:xfrm>
            <a:off x="3505200" y="3962400"/>
            <a:ext cx="2743200" cy="0"/>
          </a:xfrm>
          <a:prstGeom prst="line">
            <a:avLst/>
          </a:prstGeom>
          <a:noFill/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Connector 8"/>
          <p:cNvCxnSpPr>
            <a:cxnSpLocks noChangeShapeType="1"/>
          </p:cNvCxnSpPr>
          <p:nvPr/>
        </p:nvCxnSpPr>
        <p:spPr bwMode="auto">
          <a:xfrm>
            <a:off x="3429000" y="1600200"/>
            <a:ext cx="2834640" cy="0"/>
          </a:xfrm>
          <a:prstGeom prst="line">
            <a:avLst/>
          </a:prstGeom>
          <a:noFill/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1" name="Down Arrow 10"/>
          <p:cNvSpPr/>
          <p:nvPr/>
        </p:nvSpPr>
        <p:spPr bwMode="auto">
          <a:xfrm>
            <a:off x="3962400" y="3962400"/>
            <a:ext cx="1219200" cy="1981200"/>
          </a:xfrm>
          <a:prstGeom prst="downArrow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00" dirty="0">
                <a:solidFill>
                  <a:prstClr val="black"/>
                </a:solidFill>
                <a:latin typeface="Times" charset="0"/>
              </a:rPr>
              <a:t>     </a:t>
            </a:r>
            <a:endParaRPr lang="en-US" sz="3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2" name="Down Arrow 11"/>
          <p:cNvSpPr/>
          <p:nvPr/>
        </p:nvSpPr>
        <p:spPr bwMode="auto">
          <a:xfrm flipV="1">
            <a:off x="3962400" y="1600200"/>
            <a:ext cx="1219200" cy="2362200"/>
          </a:xfrm>
          <a:prstGeom prst="downArrow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prstClr val="black"/>
                </a:solidFill>
                <a:latin typeface="Times" charset="0"/>
              </a:rPr>
              <a:t>           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prstClr val="black"/>
              </a:solidFill>
              <a:latin typeface="Times" charset="0"/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828800" y="1600200"/>
            <a:ext cx="1981200" cy="2362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prstClr val="black"/>
              </a:solidFill>
              <a:latin typeface="Open Sans Condensed" charset="0"/>
              <a:ea typeface="Open Sans Condensed" charset="0"/>
              <a:cs typeface="Open Sans Condensed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prstClr val="black"/>
              </a:solidFill>
              <a:latin typeface="Open Sans Condensed" charset="0"/>
              <a:ea typeface="Open Sans Condensed" charset="0"/>
              <a:cs typeface="Open Sans Condensed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 Condensed" charset="0"/>
                <a:ea typeface="Open Sans Condensed" charset="0"/>
                <a:cs typeface="Open Sans Condensed" charset="0"/>
              </a:rPr>
              <a:t>CONSUMER</a:t>
            </a:r>
            <a:br>
              <a:rPr lang="en-US" altLang="en-US" sz="2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 Condensed" charset="0"/>
                <a:ea typeface="Open Sans Condensed" charset="0"/>
                <a:cs typeface="Open Sans Condensed" charset="0"/>
              </a:rPr>
            </a:br>
            <a:r>
              <a:rPr lang="en-US" altLang="en-US" sz="2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 Condensed" charset="0"/>
                <a:ea typeface="Open Sans Condensed" charset="0"/>
                <a:cs typeface="Open Sans Condensed" charset="0"/>
              </a:rPr>
              <a:t>SURPLUS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1828800" y="3962400"/>
            <a:ext cx="1981200" cy="1981200"/>
          </a:xfrm>
          <a:prstGeom prst="rect">
            <a:avLst/>
          </a:prstGeom>
          <a:solidFill>
            <a:srgbClr val="008080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4400" b="1" dirty="0">
              <a:solidFill>
                <a:prstClr val="black"/>
              </a:solidFill>
              <a:latin typeface="Open Sans Condensed" charset="0"/>
              <a:ea typeface="Open Sans Condensed" charset="0"/>
              <a:cs typeface="Open Sans Condensed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500" b="1" dirty="0">
                <a:solidFill>
                  <a:schemeClr val="bg1"/>
                </a:solidFill>
                <a:latin typeface="Open Sans Condensed" charset="0"/>
                <a:ea typeface="Open Sans Condensed" charset="0"/>
                <a:cs typeface="Open Sans Condensed" charset="0"/>
              </a:rPr>
              <a:t>PRODUCER</a:t>
            </a:r>
            <a:br>
              <a:rPr lang="en-US" sz="2500" b="1" dirty="0">
                <a:solidFill>
                  <a:schemeClr val="bg1"/>
                </a:solidFill>
                <a:latin typeface="Open Sans Condensed" charset="0"/>
                <a:ea typeface="Open Sans Condensed" charset="0"/>
                <a:cs typeface="Open Sans Condensed" charset="0"/>
              </a:rPr>
            </a:br>
            <a:r>
              <a:rPr lang="en-US" sz="2500" b="1" dirty="0">
                <a:solidFill>
                  <a:schemeClr val="bg1"/>
                </a:solidFill>
                <a:latin typeface="Open Sans Condensed" charset="0"/>
                <a:ea typeface="Open Sans Condensed" charset="0"/>
                <a:cs typeface="Open Sans Condensed" charset="0"/>
              </a:rPr>
              <a:t>SURPLUS</a:t>
            </a: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4267200" y="2133600"/>
            <a:ext cx="609600" cy="3352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 dirty="0">
                <a:solidFill>
                  <a:schemeClr val="bg1"/>
                </a:solidFill>
                <a:latin typeface="Arial" charset="0"/>
                <a:cs typeface="Arial" charset="0"/>
              </a:rPr>
              <a:t>$</a:t>
            </a:r>
          </a:p>
          <a:p>
            <a:r>
              <a:rPr lang="en-US" altLang="en-US" sz="2200" dirty="0">
                <a:solidFill>
                  <a:schemeClr val="bg1"/>
                </a:solidFill>
                <a:latin typeface="Arial" charset="0"/>
                <a:cs typeface="Arial" charset="0"/>
              </a:rPr>
              <a:t>$</a:t>
            </a:r>
          </a:p>
          <a:p>
            <a:r>
              <a:rPr lang="en-US" altLang="en-US" sz="2200" dirty="0">
                <a:solidFill>
                  <a:schemeClr val="bg1"/>
                </a:solidFill>
                <a:latin typeface="Arial" charset="0"/>
                <a:cs typeface="Arial" charset="0"/>
              </a:rPr>
              <a:t>$</a:t>
            </a:r>
          </a:p>
          <a:p>
            <a:r>
              <a:rPr lang="en-US" altLang="en-US" sz="2200" dirty="0">
                <a:solidFill>
                  <a:schemeClr val="bg1"/>
                </a:solidFill>
                <a:latin typeface="Arial" charset="0"/>
                <a:cs typeface="Arial" charset="0"/>
              </a:rPr>
              <a:t>$</a:t>
            </a:r>
          </a:p>
          <a:p>
            <a:r>
              <a:rPr lang="en-US" altLang="en-US" sz="2200" dirty="0">
                <a:solidFill>
                  <a:schemeClr val="bg1"/>
                </a:solidFill>
                <a:latin typeface="Arial" charset="0"/>
                <a:cs typeface="Arial" charset="0"/>
              </a:rPr>
              <a:t>$</a:t>
            </a:r>
          </a:p>
          <a:p>
            <a:r>
              <a:rPr lang="en-US" altLang="en-US" sz="2200" dirty="0">
                <a:solidFill>
                  <a:schemeClr val="bg1"/>
                </a:solidFill>
                <a:latin typeface="Arial" charset="0"/>
                <a:cs typeface="Arial" charset="0"/>
              </a:rPr>
              <a:t>$</a:t>
            </a:r>
          </a:p>
          <a:p>
            <a:r>
              <a:rPr lang="en-US" altLang="en-US" sz="2200" dirty="0">
                <a:solidFill>
                  <a:schemeClr val="bg1"/>
                </a:solidFill>
                <a:latin typeface="Arial" charset="0"/>
                <a:cs typeface="Arial" charset="0"/>
              </a:rPr>
              <a:t>$</a:t>
            </a:r>
          </a:p>
          <a:p>
            <a:r>
              <a:rPr lang="en-US" altLang="en-US" sz="2200" dirty="0">
                <a:solidFill>
                  <a:schemeClr val="bg1"/>
                </a:solidFill>
                <a:latin typeface="Arial" charset="0"/>
                <a:cs typeface="Arial" charset="0"/>
              </a:rPr>
              <a:t>$</a:t>
            </a:r>
          </a:p>
          <a:p>
            <a:pPr>
              <a:buFont typeface="Arial" charset="0"/>
              <a:buChar char="•"/>
            </a:pPr>
            <a:endParaRPr lang="en-US" altLang="en-US" sz="2800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3467100" y="152400"/>
            <a:ext cx="2857500" cy="838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3700" b="1" dirty="0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</a:rPr>
              <a:t>CONSUMER  </a:t>
            </a:r>
          </a:p>
          <a:p>
            <a:pPr algn="l"/>
            <a:r>
              <a:rPr lang="en-US" altLang="en-US" sz="3300" b="1" dirty="0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</a:rPr>
              <a:t>&amp; PRODUCER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191000" y="990600"/>
            <a:ext cx="6477000" cy="589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Buyer’s maximum willingness to pay (WTP)</a:t>
            </a:r>
          </a:p>
          <a:p>
            <a:pPr>
              <a:buFont typeface="Arial" charset="0"/>
              <a:buChar char="•"/>
            </a:pPr>
            <a:endParaRPr lang="en-US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5257800" y="-76200"/>
            <a:ext cx="3810000" cy="83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6600" b="1" dirty="0">
                <a:solidFill>
                  <a:schemeClr val="bg1">
                    <a:lumMod val="95000"/>
                  </a:schemeClr>
                </a:solidFill>
                <a:latin typeface="Open Sans Condensed" charset="0"/>
                <a:ea typeface="Open Sans Condensed" charset="0"/>
                <a:cs typeface="Open Sans Condensed" charset="0"/>
              </a:rPr>
              <a:t>SURPLUS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4191001" y="6057900"/>
            <a:ext cx="6210869" cy="4191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Seller’s minimum willingness to sell (WTS)</a:t>
            </a:r>
            <a:endParaRPr lang="en-US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4953000" y="2656214"/>
            <a:ext cx="5943600" cy="10013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Consumer surplus (WTP – Price) = $2,800</a:t>
            </a:r>
          </a:p>
        </p:txBody>
      </p:sp>
      <p:sp>
        <p:nvSpPr>
          <p:cNvPr id="27" name="Content Placeholder 2"/>
          <p:cNvSpPr txBox="1">
            <a:spLocks/>
          </p:cNvSpPr>
          <p:nvPr/>
        </p:nvSpPr>
        <p:spPr>
          <a:xfrm>
            <a:off x="4953000" y="4495800"/>
            <a:ext cx="6268030" cy="626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Producer surplus (Price – WTS) = $2,200</a:t>
            </a:r>
          </a:p>
        </p:txBody>
      </p:sp>
      <p:sp>
        <p:nvSpPr>
          <p:cNvPr id="28" name="Content Placeholder 2"/>
          <p:cNvSpPr txBox="1">
            <a:spLocks/>
          </p:cNvSpPr>
          <p:nvPr/>
        </p:nvSpPr>
        <p:spPr>
          <a:xfrm>
            <a:off x="6324600" y="5717863"/>
            <a:ext cx="4343400" cy="40914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2200" dirty="0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</a:rPr>
              <a:t>$15,000</a:t>
            </a:r>
          </a:p>
          <a:p>
            <a:pPr>
              <a:buFont typeface="Arial" charset="0"/>
              <a:buChar char="•"/>
            </a:pPr>
            <a:endParaRPr lang="en-US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3" name="Parallelogram 2"/>
          <p:cNvSpPr/>
          <p:nvPr/>
        </p:nvSpPr>
        <p:spPr>
          <a:xfrm>
            <a:off x="6096000" y="1447800"/>
            <a:ext cx="1676400" cy="378138"/>
          </a:xfrm>
          <a:prstGeom prst="parallelogram">
            <a:avLst>
              <a:gd name="adj" fmla="val 81594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6324601" y="1447801"/>
            <a:ext cx="4343400" cy="40914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2200" dirty="0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</a:rPr>
              <a:t>$20,000</a:t>
            </a:r>
          </a:p>
          <a:p>
            <a:pPr>
              <a:buFont typeface="Arial" charset="0"/>
              <a:buChar char="•"/>
            </a:pPr>
            <a:endParaRPr lang="en-US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29" name="Parallelogram 28"/>
          <p:cNvSpPr/>
          <p:nvPr/>
        </p:nvSpPr>
        <p:spPr>
          <a:xfrm>
            <a:off x="6019800" y="3682054"/>
            <a:ext cx="4382070" cy="504398"/>
          </a:xfrm>
          <a:prstGeom prst="parallelogram">
            <a:avLst>
              <a:gd name="adj" fmla="val 81594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ontent Placeholder 2"/>
          <p:cNvSpPr txBox="1">
            <a:spLocks/>
          </p:cNvSpPr>
          <p:nvPr/>
        </p:nvSpPr>
        <p:spPr>
          <a:xfrm>
            <a:off x="6324601" y="3686602"/>
            <a:ext cx="4896429" cy="656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2200" dirty="0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</a:rPr>
              <a:t>Negotiated price = $17,200</a:t>
            </a:r>
          </a:p>
          <a:p>
            <a:pPr>
              <a:buFont typeface="Arial" charset="0"/>
              <a:buChar char="•"/>
            </a:pPr>
            <a:endParaRPr lang="en-US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144000" y="6553200"/>
            <a:ext cx="8171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Century Gothic" panose="020B0502020202020204" pitchFamily="34" charset="0"/>
              </a:rPr>
              <a:t>SLIDE </a:t>
            </a:r>
            <a:fld id="{6FD6B7A6-E1EC-4D2B-BE3B-190BA12621E0}" type="slidenum">
              <a:rPr lang="en-US" sz="110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3</a:t>
            </a:fld>
            <a:endParaRPr lang="en-US" sz="11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323040"/>
      </p:ext>
    </p:extLst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ound Diagonal Corner Rectangle 52"/>
          <p:cNvSpPr/>
          <p:nvPr/>
        </p:nvSpPr>
        <p:spPr>
          <a:xfrm>
            <a:off x="1676400" y="152400"/>
            <a:ext cx="6858000" cy="6096000"/>
          </a:xfrm>
          <a:prstGeom prst="round2DiagRect">
            <a:avLst>
              <a:gd name="adj1" fmla="val 6583"/>
              <a:gd name="adj2" fmla="val 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 Diagonal Corner Rectangle 53"/>
          <p:cNvSpPr/>
          <p:nvPr/>
        </p:nvSpPr>
        <p:spPr>
          <a:xfrm>
            <a:off x="1676400" y="152400"/>
            <a:ext cx="6858000" cy="71807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1666082" y="211353"/>
            <a:ext cx="67802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300" b="1" dirty="0">
                <a:solidFill>
                  <a:schemeClr val="bg1"/>
                </a:solidFill>
                <a:latin typeface="Open Sans Condensed" charset="0"/>
                <a:ea typeface="Open Sans Condensed" charset="0"/>
                <a:cs typeface="Open Sans Condensed" charset="0"/>
              </a:rPr>
              <a:t>INDIVIDUAL CONSUMER SURPLUS</a:t>
            </a:r>
            <a:endParaRPr lang="en-US" sz="2800" b="1" dirty="0">
              <a:solidFill>
                <a:schemeClr val="bg1"/>
              </a:solidFill>
              <a:latin typeface="Open Sans Condensed" charset="0"/>
              <a:ea typeface="Open Sans Condensed" charset="0"/>
              <a:cs typeface="Open Sans Condensed" charset="0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3962400" y="1066801"/>
            <a:ext cx="1828800" cy="1066799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Consumer A is willing to pay $11...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102" name="Rectangle 6"/>
          <p:cNvSpPr>
            <a:spLocks noChangeArrowheads="1"/>
          </p:cNvSpPr>
          <p:nvPr/>
        </p:nvSpPr>
        <p:spPr bwMode="auto">
          <a:xfrm>
            <a:off x="2451101" y="2484437"/>
            <a:ext cx="603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6" name="Rectangle 7"/>
          <p:cNvSpPr>
            <a:spLocks noChangeArrowheads="1"/>
          </p:cNvSpPr>
          <p:nvPr/>
        </p:nvSpPr>
        <p:spPr bwMode="auto">
          <a:xfrm>
            <a:off x="2408058" y="3352800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6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7" name="Rectangle 8"/>
          <p:cNvSpPr>
            <a:spLocks noChangeArrowheads="1"/>
          </p:cNvSpPr>
          <p:nvPr/>
        </p:nvSpPr>
        <p:spPr bwMode="auto">
          <a:xfrm>
            <a:off x="2451101" y="310197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9" name="Rectangle 10"/>
          <p:cNvSpPr>
            <a:spLocks noChangeArrowheads="1"/>
          </p:cNvSpPr>
          <p:nvPr/>
        </p:nvSpPr>
        <p:spPr bwMode="auto">
          <a:xfrm>
            <a:off x="2451101" y="3719512"/>
            <a:ext cx="603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1" name="Rectangle 12"/>
          <p:cNvSpPr>
            <a:spLocks noChangeArrowheads="1"/>
          </p:cNvSpPr>
          <p:nvPr/>
        </p:nvSpPr>
        <p:spPr bwMode="auto">
          <a:xfrm>
            <a:off x="2451101" y="435927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3" name="Rectangle 14"/>
          <p:cNvSpPr>
            <a:spLocks noChangeArrowheads="1"/>
          </p:cNvSpPr>
          <p:nvPr/>
        </p:nvSpPr>
        <p:spPr bwMode="auto">
          <a:xfrm>
            <a:off x="2544762" y="5605462"/>
            <a:ext cx="12223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0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4" name="Rectangle 15"/>
          <p:cNvSpPr>
            <a:spLocks noChangeArrowheads="1"/>
          </p:cNvSpPr>
          <p:nvPr/>
        </p:nvSpPr>
        <p:spPr bwMode="auto">
          <a:xfrm>
            <a:off x="2747962" y="5715001"/>
            <a:ext cx="235743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    </a:t>
            </a:r>
            <a:r>
              <a:rPr lang="en-US" b="1" dirty="0">
                <a:solidFill>
                  <a:srgbClr val="1F1A17"/>
                </a:solidFill>
                <a:latin typeface="Arial" pitchFamily="34" charset="0"/>
              </a:rPr>
              <a:t>1</a:t>
            </a:r>
            <a:r>
              <a:rPr lang="en-US" sz="300" b="1" dirty="0">
                <a:solidFill>
                  <a:srgbClr val="1F1A17"/>
                </a:solidFill>
                <a:latin typeface="Arial" pitchFamily="34" charset="0"/>
              </a:rPr>
              <a:t>                 </a:t>
            </a:r>
            <a:r>
              <a:rPr lang="en-US" b="1" dirty="0">
                <a:solidFill>
                  <a:srgbClr val="1F1A17"/>
                </a:solidFill>
                <a:latin typeface="Arial" pitchFamily="34" charset="0"/>
              </a:rPr>
              <a:t>2</a:t>
            </a:r>
            <a:r>
              <a:rPr lang="en-US" sz="300" b="1" dirty="0">
                <a:solidFill>
                  <a:srgbClr val="1F1A17"/>
                </a:solidFill>
                <a:latin typeface="Arial" pitchFamily="34" charset="0"/>
              </a:rPr>
              <a:t>                   </a:t>
            </a: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3</a:t>
            </a:r>
            <a:r>
              <a:rPr lang="en-US" sz="300" b="1" dirty="0">
                <a:solidFill>
                  <a:srgbClr val="1F1A17"/>
                </a:solidFill>
                <a:latin typeface="Arial" pitchFamily="34" charset="0"/>
              </a:rPr>
              <a:t> </a:t>
            </a: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   4</a:t>
            </a:r>
            <a:r>
              <a:rPr lang="en-US" sz="300" b="1" dirty="0">
                <a:solidFill>
                  <a:srgbClr val="1F1A17"/>
                </a:solidFill>
                <a:latin typeface="Arial" pitchFamily="34" charset="0"/>
              </a:rPr>
              <a:t>  </a:t>
            </a: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   5</a:t>
            </a:r>
            <a:r>
              <a:rPr lang="en-US" sz="300" b="1" dirty="0">
                <a:solidFill>
                  <a:srgbClr val="1F1A17"/>
                </a:solidFill>
                <a:latin typeface="Arial" pitchFamily="34" charset="0"/>
              </a:rPr>
              <a:t>  </a:t>
            </a: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   6                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5" name="Rectangle 16"/>
          <p:cNvSpPr>
            <a:spLocks noChangeArrowheads="1"/>
          </p:cNvSpPr>
          <p:nvPr/>
        </p:nvSpPr>
        <p:spPr bwMode="auto">
          <a:xfrm>
            <a:off x="7669212" y="5410201"/>
            <a:ext cx="17953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b="1" i="1" dirty="0">
                <a:solidFill>
                  <a:srgbClr val="1F1A17"/>
                </a:solidFill>
                <a:latin typeface="Arial" pitchFamily="34" charset="0"/>
              </a:rPr>
              <a:t>Q</a:t>
            </a:r>
            <a:endParaRPr lang="en-US" sz="2800" i="1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20" name="Line 23"/>
          <p:cNvSpPr>
            <a:spLocks noChangeShapeType="1"/>
          </p:cNvSpPr>
          <p:nvPr/>
        </p:nvSpPr>
        <p:spPr bwMode="auto">
          <a:xfrm>
            <a:off x="2619217" y="350361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" name="Line 28"/>
          <p:cNvSpPr>
            <a:spLocks noChangeShapeType="1"/>
          </p:cNvSpPr>
          <p:nvPr/>
        </p:nvSpPr>
        <p:spPr bwMode="auto">
          <a:xfrm>
            <a:off x="4033006" y="5562601"/>
            <a:ext cx="1588" cy="128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Line 34"/>
          <p:cNvSpPr>
            <a:spLocks noChangeShapeType="1"/>
          </p:cNvSpPr>
          <p:nvPr/>
        </p:nvSpPr>
        <p:spPr bwMode="auto">
          <a:xfrm>
            <a:off x="4648201" y="5557837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Text Box 37"/>
          <p:cNvSpPr txBox="1">
            <a:spLocks noChangeArrowheads="1"/>
          </p:cNvSpPr>
          <p:nvPr/>
        </p:nvSpPr>
        <p:spPr bwMode="auto">
          <a:xfrm>
            <a:off x="2335212" y="1295401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 sz="40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i="1" dirty="0"/>
              <a:t>P</a:t>
            </a:r>
          </a:p>
        </p:txBody>
      </p:sp>
      <p:sp>
        <p:nvSpPr>
          <p:cNvPr id="59" name="Text Box 11"/>
          <p:cNvSpPr txBox="1">
            <a:spLocks noChangeArrowheads="1"/>
          </p:cNvSpPr>
          <p:nvPr/>
        </p:nvSpPr>
        <p:spPr bwMode="auto">
          <a:xfrm>
            <a:off x="6407150" y="1504950"/>
            <a:ext cx="450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1" dirty="0">
                <a:solidFill>
                  <a:srgbClr val="0070C0"/>
                </a:solidFill>
                <a:latin typeface="Arial" charset="0"/>
              </a:rPr>
              <a:t>S</a:t>
            </a:r>
            <a:r>
              <a:rPr lang="en-US" altLang="en-US" sz="2000" b="1" baseline="-25000" dirty="0">
                <a:solidFill>
                  <a:srgbClr val="0070C0"/>
                </a:solidFill>
                <a:latin typeface="Arial" charset="0"/>
              </a:rPr>
              <a:t>0</a:t>
            </a:r>
          </a:p>
        </p:txBody>
      </p:sp>
      <p:sp>
        <p:nvSpPr>
          <p:cNvPr id="61" name="Text Box 12"/>
          <p:cNvSpPr txBox="1">
            <a:spLocks noChangeArrowheads="1"/>
          </p:cNvSpPr>
          <p:nvPr/>
        </p:nvSpPr>
        <p:spPr bwMode="auto">
          <a:xfrm>
            <a:off x="6545264" y="5010150"/>
            <a:ext cx="465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1" dirty="0">
                <a:solidFill>
                  <a:srgbClr val="FF0000"/>
                </a:solidFill>
                <a:latin typeface="Arial" charset="0"/>
              </a:rPr>
              <a:t>D</a:t>
            </a:r>
            <a:r>
              <a:rPr lang="en-US" altLang="en-US" sz="2000" b="1" baseline="-25000" dirty="0">
                <a:solidFill>
                  <a:srgbClr val="FF0000"/>
                </a:solidFill>
                <a:latin typeface="Arial" charset="0"/>
              </a:rPr>
              <a:t>0</a:t>
            </a:r>
          </a:p>
        </p:txBody>
      </p:sp>
      <p:sp>
        <p:nvSpPr>
          <p:cNvPr id="64" name="Line 13"/>
          <p:cNvSpPr>
            <a:spLocks noChangeShapeType="1"/>
          </p:cNvSpPr>
          <p:nvPr/>
        </p:nvSpPr>
        <p:spPr bwMode="auto">
          <a:xfrm flipH="1">
            <a:off x="2747962" y="3505200"/>
            <a:ext cx="1981200" cy="0"/>
          </a:xfrm>
          <a:prstGeom prst="line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Calibri" pitchFamily="34" charset="0"/>
              <a:cs typeface="Arial" charset="0"/>
            </a:endParaRPr>
          </a:p>
        </p:txBody>
      </p:sp>
      <p:cxnSp>
        <p:nvCxnSpPr>
          <p:cNvPr id="66" name="Straight Connector 34"/>
          <p:cNvCxnSpPr>
            <a:cxnSpLocks noChangeShapeType="1"/>
          </p:cNvCxnSpPr>
          <p:nvPr/>
        </p:nvCxnSpPr>
        <p:spPr bwMode="auto">
          <a:xfrm>
            <a:off x="4671218" y="3513934"/>
            <a:ext cx="795" cy="2027234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67" name="Straight Connector 34"/>
          <p:cNvCxnSpPr>
            <a:cxnSpLocks noChangeShapeType="1"/>
          </p:cNvCxnSpPr>
          <p:nvPr/>
        </p:nvCxnSpPr>
        <p:spPr bwMode="auto">
          <a:xfrm>
            <a:off x="3048000" y="2057400"/>
            <a:ext cx="0" cy="3480592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" name="Straight Connector 4"/>
          <p:cNvCxnSpPr/>
          <p:nvPr/>
        </p:nvCxnSpPr>
        <p:spPr>
          <a:xfrm>
            <a:off x="2743200" y="1752600"/>
            <a:ext cx="3810000" cy="3349128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2743200" y="1883568"/>
            <a:ext cx="3663950" cy="3374234"/>
          </a:xfrm>
          <a:prstGeom prst="line">
            <a:avLst/>
          </a:prstGeom>
          <a:ln w="444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19"/>
          <p:cNvSpPr>
            <a:spLocks noChangeArrowheads="1"/>
          </p:cNvSpPr>
          <p:nvPr/>
        </p:nvSpPr>
        <p:spPr bwMode="auto">
          <a:xfrm>
            <a:off x="4579777" y="3385343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  <a:latin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2743200" y="1371601"/>
            <a:ext cx="0" cy="41608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2743200" y="5532435"/>
            <a:ext cx="487680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34"/>
          <p:cNvCxnSpPr>
            <a:cxnSpLocks noChangeShapeType="1"/>
          </p:cNvCxnSpPr>
          <p:nvPr/>
        </p:nvCxnSpPr>
        <p:spPr bwMode="auto">
          <a:xfrm>
            <a:off x="3733800" y="2615406"/>
            <a:ext cx="0" cy="2917028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74" name="Straight Connector 34"/>
          <p:cNvCxnSpPr>
            <a:cxnSpLocks noChangeShapeType="1"/>
          </p:cNvCxnSpPr>
          <p:nvPr/>
        </p:nvCxnSpPr>
        <p:spPr bwMode="auto">
          <a:xfrm>
            <a:off x="4344195" y="3200400"/>
            <a:ext cx="0" cy="2332034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76" name="Straight Connector 34"/>
          <p:cNvCxnSpPr>
            <a:cxnSpLocks noChangeShapeType="1"/>
          </p:cNvCxnSpPr>
          <p:nvPr/>
        </p:nvCxnSpPr>
        <p:spPr bwMode="auto">
          <a:xfrm>
            <a:off x="4037013" y="2895600"/>
            <a:ext cx="2383" cy="2636834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77" name="Straight Connector 34"/>
          <p:cNvCxnSpPr>
            <a:cxnSpLocks noChangeShapeType="1"/>
          </p:cNvCxnSpPr>
          <p:nvPr/>
        </p:nvCxnSpPr>
        <p:spPr bwMode="auto">
          <a:xfrm flipH="1">
            <a:off x="3402329" y="2340606"/>
            <a:ext cx="6032" cy="3191829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78" name="Rectangle 7"/>
          <p:cNvSpPr>
            <a:spLocks noChangeArrowheads="1"/>
          </p:cNvSpPr>
          <p:nvPr/>
        </p:nvSpPr>
        <p:spPr bwMode="auto">
          <a:xfrm>
            <a:off x="2403455" y="3070225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7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79" name="Rectangle 8"/>
          <p:cNvSpPr>
            <a:spLocks noChangeArrowheads="1"/>
          </p:cNvSpPr>
          <p:nvPr/>
        </p:nvSpPr>
        <p:spPr bwMode="auto">
          <a:xfrm>
            <a:off x="2446498" y="28194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80" name="Line 23"/>
          <p:cNvSpPr>
            <a:spLocks noChangeShapeType="1"/>
          </p:cNvSpPr>
          <p:nvPr/>
        </p:nvSpPr>
        <p:spPr bwMode="auto">
          <a:xfrm>
            <a:off x="2614614" y="319944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" name="Rectangle 7"/>
          <p:cNvSpPr>
            <a:spLocks noChangeArrowheads="1"/>
          </p:cNvSpPr>
          <p:nvPr/>
        </p:nvSpPr>
        <p:spPr bwMode="auto">
          <a:xfrm>
            <a:off x="2403455" y="2786390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8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82" name="Rectangle 8"/>
          <p:cNvSpPr>
            <a:spLocks noChangeArrowheads="1"/>
          </p:cNvSpPr>
          <p:nvPr/>
        </p:nvSpPr>
        <p:spPr bwMode="auto">
          <a:xfrm>
            <a:off x="2446498" y="253556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83" name="Line 23"/>
          <p:cNvSpPr>
            <a:spLocks noChangeShapeType="1"/>
          </p:cNvSpPr>
          <p:nvPr/>
        </p:nvSpPr>
        <p:spPr bwMode="auto">
          <a:xfrm>
            <a:off x="2614614" y="2915609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" name="Rectangle 7"/>
          <p:cNvSpPr>
            <a:spLocks noChangeArrowheads="1"/>
          </p:cNvSpPr>
          <p:nvPr/>
        </p:nvSpPr>
        <p:spPr bwMode="auto">
          <a:xfrm>
            <a:off x="2403455" y="2481590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9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85" name="Rectangle 8"/>
          <p:cNvSpPr>
            <a:spLocks noChangeArrowheads="1"/>
          </p:cNvSpPr>
          <p:nvPr/>
        </p:nvSpPr>
        <p:spPr bwMode="auto">
          <a:xfrm>
            <a:off x="2446498" y="215456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dirty="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86" name="Line 23"/>
          <p:cNvSpPr>
            <a:spLocks noChangeShapeType="1"/>
          </p:cNvSpPr>
          <p:nvPr/>
        </p:nvSpPr>
        <p:spPr bwMode="auto">
          <a:xfrm>
            <a:off x="2614614" y="2615407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" name="Rectangle 7"/>
          <p:cNvSpPr>
            <a:spLocks noChangeArrowheads="1"/>
          </p:cNvSpPr>
          <p:nvPr/>
        </p:nvSpPr>
        <p:spPr bwMode="auto">
          <a:xfrm>
            <a:off x="2297342" y="2209800"/>
            <a:ext cx="304571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10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88" name="Rectangle 8"/>
          <p:cNvSpPr>
            <a:spLocks noChangeArrowheads="1"/>
          </p:cNvSpPr>
          <p:nvPr/>
        </p:nvSpPr>
        <p:spPr bwMode="auto">
          <a:xfrm>
            <a:off x="2446498" y="19050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89" name="Line 23"/>
          <p:cNvSpPr>
            <a:spLocks noChangeShapeType="1"/>
          </p:cNvSpPr>
          <p:nvPr/>
        </p:nvSpPr>
        <p:spPr bwMode="auto">
          <a:xfrm>
            <a:off x="2614614" y="2339019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" name="Rectangle 7"/>
          <p:cNvSpPr>
            <a:spLocks noChangeArrowheads="1"/>
          </p:cNvSpPr>
          <p:nvPr/>
        </p:nvSpPr>
        <p:spPr bwMode="auto">
          <a:xfrm>
            <a:off x="2298284" y="1905000"/>
            <a:ext cx="292516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11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91" name="Rectangle 8"/>
          <p:cNvSpPr>
            <a:spLocks noChangeArrowheads="1"/>
          </p:cNvSpPr>
          <p:nvPr/>
        </p:nvSpPr>
        <p:spPr bwMode="auto">
          <a:xfrm>
            <a:off x="2446498" y="17526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92" name="Line 23"/>
          <p:cNvSpPr>
            <a:spLocks noChangeShapeType="1"/>
          </p:cNvSpPr>
          <p:nvPr/>
        </p:nvSpPr>
        <p:spPr bwMode="auto">
          <a:xfrm>
            <a:off x="2614614" y="205644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" name="Rectangle 7"/>
          <p:cNvSpPr>
            <a:spLocks noChangeArrowheads="1"/>
          </p:cNvSpPr>
          <p:nvPr/>
        </p:nvSpPr>
        <p:spPr bwMode="auto">
          <a:xfrm>
            <a:off x="2286001" y="1622425"/>
            <a:ext cx="304571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12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94" name="Rectangle 8"/>
          <p:cNvSpPr>
            <a:spLocks noChangeArrowheads="1"/>
          </p:cNvSpPr>
          <p:nvPr/>
        </p:nvSpPr>
        <p:spPr bwMode="auto">
          <a:xfrm>
            <a:off x="2446498" y="13716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dirty="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95" name="Line 23"/>
          <p:cNvSpPr>
            <a:spLocks noChangeShapeType="1"/>
          </p:cNvSpPr>
          <p:nvPr/>
        </p:nvSpPr>
        <p:spPr bwMode="auto">
          <a:xfrm>
            <a:off x="2614614" y="175164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" name="Line 28"/>
          <p:cNvSpPr>
            <a:spLocks noChangeShapeType="1"/>
          </p:cNvSpPr>
          <p:nvPr/>
        </p:nvSpPr>
        <p:spPr bwMode="auto">
          <a:xfrm>
            <a:off x="3046412" y="5562601"/>
            <a:ext cx="1588" cy="128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" name="Line 34"/>
          <p:cNvSpPr>
            <a:spLocks noChangeShapeType="1"/>
          </p:cNvSpPr>
          <p:nvPr/>
        </p:nvSpPr>
        <p:spPr bwMode="auto">
          <a:xfrm>
            <a:off x="4343401" y="5562600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Line 34"/>
          <p:cNvSpPr>
            <a:spLocks noChangeShapeType="1"/>
          </p:cNvSpPr>
          <p:nvPr/>
        </p:nvSpPr>
        <p:spPr bwMode="auto">
          <a:xfrm>
            <a:off x="3406775" y="5541168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" name="Line 34"/>
          <p:cNvSpPr>
            <a:spLocks noChangeShapeType="1"/>
          </p:cNvSpPr>
          <p:nvPr/>
        </p:nvSpPr>
        <p:spPr bwMode="auto">
          <a:xfrm>
            <a:off x="3732214" y="5525767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 flipV="1">
            <a:off x="2747963" y="3200400"/>
            <a:ext cx="1597025" cy="632"/>
          </a:xfrm>
          <a:prstGeom prst="line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2743200" y="2896232"/>
            <a:ext cx="1289806" cy="0"/>
          </a:xfrm>
          <a:prstGeom prst="line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2743201" y="2591432"/>
            <a:ext cx="989013" cy="0"/>
          </a:xfrm>
          <a:prstGeom prst="line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2743200" y="2286633"/>
            <a:ext cx="659128" cy="955"/>
          </a:xfrm>
          <a:prstGeom prst="line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 flipV="1">
            <a:off x="2747962" y="2035969"/>
            <a:ext cx="298450" cy="2857"/>
          </a:xfrm>
          <a:prstGeom prst="line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2747962" y="2057400"/>
            <a:ext cx="298450" cy="14478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ounded Rectangle 111"/>
          <p:cNvSpPr/>
          <p:nvPr/>
        </p:nvSpPr>
        <p:spPr>
          <a:xfrm>
            <a:off x="3962400" y="4191002"/>
            <a:ext cx="1524000" cy="1066799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…but the price is just $6.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Rounded Rectangle 115"/>
              <p:cNvSpPr/>
              <p:nvPr/>
            </p:nvSpPr>
            <p:spPr>
              <a:xfrm>
                <a:off x="6429382" y="2209801"/>
                <a:ext cx="2943219" cy="1003765"/>
              </a:xfrm>
              <a:prstGeom prst="roundRect">
                <a:avLst>
                  <a:gd name="adj" fmla="val 9475"/>
                </a:avLst>
              </a:prstGeom>
              <a:solidFill>
                <a:srgbClr val="009999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2000" dirty="0">
                    <a:solidFill>
                      <a:schemeClr val="bg1">
                        <a:lumMod val="95000"/>
                      </a:schemeClr>
                    </a:solidFill>
                    <a:latin typeface="Open Sans" charset="0"/>
                    <a:ea typeface="Open Sans" charset="0"/>
                    <a:cs typeface="Open Sans" charset="0"/>
                  </a:rPr>
                  <a:t>Consumer A’s surplus is $11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charset="0"/>
                        <a:ea typeface="Open Sans" charset="0"/>
                        <a:cs typeface="Open Sans" charset="0"/>
                      </a:rPr>
                      <m:t>−</m:t>
                    </m:r>
                  </m:oMath>
                </a14:m>
                <a:r>
                  <a:rPr lang="en-US" altLang="en-US" sz="2000" dirty="0">
                    <a:solidFill>
                      <a:schemeClr val="bg1">
                        <a:lumMod val="95000"/>
                      </a:schemeClr>
                    </a:solidFill>
                    <a:latin typeface="Open Sans" charset="0"/>
                    <a:ea typeface="Open Sans" charset="0"/>
                    <a:cs typeface="Open Sans" charset="0"/>
                  </a:rPr>
                  <a:t> $6 = $5.</a:t>
                </a:r>
                <a:endParaRPr lang="en-US" altLang="en-US" sz="2000" i="1" baseline="-25000" dirty="0">
                  <a:solidFill>
                    <a:schemeClr val="bg1">
                      <a:lumMod val="95000"/>
                    </a:schemeClr>
                  </a:solidFill>
                  <a:latin typeface="Open Sans" charset="0"/>
                  <a:ea typeface="Open Sans" charset="0"/>
                  <a:cs typeface="Open Sans" charset="0"/>
                </a:endParaRPr>
              </a:p>
            </p:txBody>
          </p:sp>
        </mc:Choice>
        <mc:Fallback>
          <p:sp>
            <p:nvSpPr>
              <p:cNvPr id="116" name="Rounded Rectangle 1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82" y="2209801"/>
                <a:ext cx="2943219" cy="1003765"/>
              </a:xfrm>
              <a:prstGeom prst="roundRect">
                <a:avLst>
                  <a:gd name="adj" fmla="val 9475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/>
          <p:cNvCxnSpPr>
            <a:stCxn id="60" idx="1"/>
          </p:cNvCxnSpPr>
          <p:nvPr/>
        </p:nvCxnSpPr>
        <p:spPr>
          <a:xfrm flipH="1">
            <a:off x="3046412" y="1600200"/>
            <a:ext cx="915988" cy="457830"/>
          </a:xfrm>
          <a:prstGeom prst="straightConnector1">
            <a:avLst/>
          </a:prstGeom>
          <a:ln w="38100">
            <a:solidFill>
              <a:srgbClr val="00808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flipH="1" flipV="1">
            <a:off x="3072764" y="3483607"/>
            <a:ext cx="965836" cy="730410"/>
          </a:xfrm>
          <a:prstGeom prst="straightConnector1">
            <a:avLst/>
          </a:prstGeom>
          <a:ln w="38100">
            <a:solidFill>
              <a:srgbClr val="00808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3074989" y="2287588"/>
            <a:ext cx="313114" cy="121761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2" name="Rounded Rectangle 121"/>
              <p:cNvSpPr/>
              <p:nvPr/>
            </p:nvSpPr>
            <p:spPr>
              <a:xfrm>
                <a:off x="6429382" y="3429001"/>
                <a:ext cx="2943219" cy="1316995"/>
              </a:xfrm>
              <a:prstGeom prst="roundRect">
                <a:avLst>
                  <a:gd name="adj" fmla="val 9475"/>
                </a:avLst>
              </a:prstGeom>
              <a:solidFill>
                <a:srgbClr val="009999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2000" dirty="0">
                    <a:solidFill>
                      <a:schemeClr val="bg1">
                        <a:lumMod val="95000"/>
                      </a:schemeClr>
                    </a:solidFill>
                    <a:latin typeface="Open Sans" charset="0"/>
                    <a:ea typeface="Open Sans" charset="0"/>
                    <a:cs typeface="Open Sans" charset="0"/>
                  </a:rPr>
                  <a:t>Consumer B is willing to pay $10; consumer surplus is $10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charset="0"/>
                        <a:ea typeface="Open Sans" charset="0"/>
                        <a:cs typeface="Open Sans" charset="0"/>
                      </a:rPr>
                      <m:t>−</m:t>
                    </m:r>
                  </m:oMath>
                </a14:m>
                <a:r>
                  <a:rPr lang="en-US" altLang="en-US" sz="2000" dirty="0">
                    <a:solidFill>
                      <a:schemeClr val="bg1">
                        <a:lumMod val="95000"/>
                      </a:schemeClr>
                    </a:solidFill>
                    <a:latin typeface="Open Sans" charset="0"/>
                    <a:ea typeface="Open Sans" charset="0"/>
                    <a:cs typeface="Open Sans" charset="0"/>
                  </a:rPr>
                  <a:t> $6 = $4.</a:t>
                </a:r>
                <a:endParaRPr lang="en-US" altLang="en-US" sz="2000" i="1" baseline="-25000" dirty="0">
                  <a:solidFill>
                    <a:schemeClr val="bg1">
                      <a:lumMod val="95000"/>
                    </a:schemeClr>
                  </a:solidFill>
                  <a:latin typeface="Open Sans" charset="0"/>
                  <a:ea typeface="Open Sans" charset="0"/>
                  <a:cs typeface="Open Sans" charset="0"/>
                </a:endParaRPr>
              </a:p>
            </p:txBody>
          </p:sp>
        </mc:Choice>
        <mc:Fallback>
          <p:sp>
            <p:nvSpPr>
              <p:cNvPr id="122" name="Rounded Rectangle 1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82" y="3429001"/>
                <a:ext cx="2943219" cy="1316995"/>
              </a:xfrm>
              <a:prstGeom prst="roundRect">
                <a:avLst>
                  <a:gd name="adj" fmla="val 9475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Rounded Rectangle 122"/>
          <p:cNvSpPr/>
          <p:nvPr/>
        </p:nvSpPr>
        <p:spPr>
          <a:xfrm>
            <a:off x="7519990" y="4931404"/>
            <a:ext cx="1852610" cy="402597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And so on…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144000" y="6553200"/>
            <a:ext cx="8171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Century Gothic" panose="020B0502020202020204" pitchFamily="34" charset="0"/>
              </a:rPr>
              <a:t>SLIDE </a:t>
            </a:r>
            <a:fld id="{6FD6B7A6-E1EC-4D2B-BE3B-190BA12621E0}" type="slidenum">
              <a:rPr lang="en-US" sz="110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4</a:t>
            </a:fld>
            <a:endParaRPr lang="en-US" sz="11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521424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 animBg="1"/>
      <p:bldP spid="121" grpId="0" animBg="1"/>
      <p:bldP spid="122" grpId="0" animBg="1"/>
      <p:bldP spid="1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ound Diagonal Corner Rectangle 52"/>
          <p:cNvSpPr/>
          <p:nvPr/>
        </p:nvSpPr>
        <p:spPr>
          <a:xfrm>
            <a:off x="1676400" y="152400"/>
            <a:ext cx="6858000" cy="6096000"/>
          </a:xfrm>
          <a:prstGeom prst="round2DiagRect">
            <a:avLst>
              <a:gd name="adj1" fmla="val 6583"/>
              <a:gd name="adj2" fmla="val 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 Diagonal Corner Rectangle 53"/>
          <p:cNvSpPr/>
          <p:nvPr/>
        </p:nvSpPr>
        <p:spPr>
          <a:xfrm>
            <a:off x="1676400" y="152400"/>
            <a:ext cx="6858000" cy="71807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1666082" y="211353"/>
            <a:ext cx="67802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300" b="1" dirty="0">
                <a:solidFill>
                  <a:schemeClr val="bg1"/>
                </a:solidFill>
                <a:latin typeface="Open Sans Condensed" charset="0"/>
                <a:ea typeface="Open Sans Condensed" charset="0"/>
                <a:cs typeface="Open Sans Condensed" charset="0"/>
              </a:rPr>
              <a:t>TOTAL CONSUMER SURPLUS</a:t>
            </a:r>
            <a:endParaRPr lang="en-US" sz="2800" b="1" dirty="0">
              <a:solidFill>
                <a:schemeClr val="bg1"/>
              </a:solidFill>
              <a:latin typeface="Open Sans Condensed" charset="0"/>
              <a:ea typeface="Open Sans Condensed" charset="0"/>
              <a:cs typeface="Open Sans Condensed" charset="0"/>
            </a:endParaRPr>
          </a:p>
        </p:txBody>
      </p:sp>
      <p:sp>
        <p:nvSpPr>
          <p:cNvPr id="102" name="Rectangle 6"/>
          <p:cNvSpPr>
            <a:spLocks noChangeArrowheads="1"/>
          </p:cNvSpPr>
          <p:nvPr/>
        </p:nvSpPr>
        <p:spPr bwMode="auto">
          <a:xfrm>
            <a:off x="2451101" y="2484437"/>
            <a:ext cx="603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6" name="Rectangle 7"/>
          <p:cNvSpPr>
            <a:spLocks noChangeArrowheads="1"/>
          </p:cNvSpPr>
          <p:nvPr/>
        </p:nvSpPr>
        <p:spPr bwMode="auto">
          <a:xfrm>
            <a:off x="2408058" y="3352800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6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7" name="Rectangle 8"/>
          <p:cNvSpPr>
            <a:spLocks noChangeArrowheads="1"/>
          </p:cNvSpPr>
          <p:nvPr/>
        </p:nvSpPr>
        <p:spPr bwMode="auto">
          <a:xfrm>
            <a:off x="2451101" y="310197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9" name="Rectangle 10"/>
          <p:cNvSpPr>
            <a:spLocks noChangeArrowheads="1"/>
          </p:cNvSpPr>
          <p:nvPr/>
        </p:nvSpPr>
        <p:spPr bwMode="auto">
          <a:xfrm>
            <a:off x="2451101" y="3719512"/>
            <a:ext cx="603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1" name="Rectangle 12"/>
          <p:cNvSpPr>
            <a:spLocks noChangeArrowheads="1"/>
          </p:cNvSpPr>
          <p:nvPr/>
        </p:nvSpPr>
        <p:spPr bwMode="auto">
          <a:xfrm>
            <a:off x="2451101" y="435927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3" name="Rectangle 14"/>
          <p:cNvSpPr>
            <a:spLocks noChangeArrowheads="1"/>
          </p:cNvSpPr>
          <p:nvPr/>
        </p:nvSpPr>
        <p:spPr bwMode="auto">
          <a:xfrm>
            <a:off x="2544762" y="5605462"/>
            <a:ext cx="12223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0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4" name="Rectangle 15"/>
          <p:cNvSpPr>
            <a:spLocks noChangeArrowheads="1"/>
          </p:cNvSpPr>
          <p:nvPr/>
        </p:nvSpPr>
        <p:spPr bwMode="auto">
          <a:xfrm>
            <a:off x="2747962" y="5715001"/>
            <a:ext cx="235743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    </a:t>
            </a:r>
            <a:r>
              <a:rPr lang="en-US" b="1" dirty="0">
                <a:solidFill>
                  <a:srgbClr val="1F1A17"/>
                </a:solidFill>
                <a:latin typeface="Arial" pitchFamily="34" charset="0"/>
              </a:rPr>
              <a:t>1</a:t>
            </a:r>
            <a:r>
              <a:rPr lang="en-US" sz="300" b="1" dirty="0">
                <a:solidFill>
                  <a:srgbClr val="1F1A17"/>
                </a:solidFill>
                <a:latin typeface="Arial" pitchFamily="34" charset="0"/>
              </a:rPr>
              <a:t>                 </a:t>
            </a:r>
            <a:r>
              <a:rPr lang="en-US" b="1" dirty="0">
                <a:solidFill>
                  <a:srgbClr val="1F1A17"/>
                </a:solidFill>
                <a:latin typeface="Arial" pitchFamily="34" charset="0"/>
              </a:rPr>
              <a:t>2</a:t>
            </a:r>
            <a:r>
              <a:rPr lang="en-US" sz="300" b="1" dirty="0">
                <a:solidFill>
                  <a:srgbClr val="1F1A17"/>
                </a:solidFill>
                <a:latin typeface="Arial" pitchFamily="34" charset="0"/>
              </a:rPr>
              <a:t>                   </a:t>
            </a: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3</a:t>
            </a:r>
            <a:r>
              <a:rPr lang="en-US" sz="300" b="1" dirty="0">
                <a:solidFill>
                  <a:srgbClr val="1F1A17"/>
                </a:solidFill>
                <a:latin typeface="Arial" pitchFamily="34" charset="0"/>
              </a:rPr>
              <a:t> </a:t>
            </a: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   4</a:t>
            </a:r>
            <a:r>
              <a:rPr lang="en-US" sz="300" b="1" dirty="0">
                <a:solidFill>
                  <a:srgbClr val="1F1A17"/>
                </a:solidFill>
                <a:latin typeface="Arial" pitchFamily="34" charset="0"/>
              </a:rPr>
              <a:t>  </a:t>
            </a: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   5</a:t>
            </a:r>
            <a:r>
              <a:rPr lang="en-US" sz="300" b="1" dirty="0">
                <a:solidFill>
                  <a:srgbClr val="1F1A17"/>
                </a:solidFill>
                <a:latin typeface="Arial" pitchFamily="34" charset="0"/>
              </a:rPr>
              <a:t>  </a:t>
            </a: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   6                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5" name="Rectangle 16"/>
          <p:cNvSpPr>
            <a:spLocks noChangeArrowheads="1"/>
          </p:cNvSpPr>
          <p:nvPr/>
        </p:nvSpPr>
        <p:spPr bwMode="auto">
          <a:xfrm>
            <a:off x="7669212" y="5410201"/>
            <a:ext cx="17953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b="1" i="1" dirty="0">
                <a:solidFill>
                  <a:srgbClr val="1F1A17"/>
                </a:solidFill>
                <a:latin typeface="Arial" pitchFamily="34" charset="0"/>
              </a:rPr>
              <a:t>Q</a:t>
            </a:r>
            <a:endParaRPr lang="en-US" sz="2800" i="1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20" name="Line 23"/>
          <p:cNvSpPr>
            <a:spLocks noChangeShapeType="1"/>
          </p:cNvSpPr>
          <p:nvPr/>
        </p:nvSpPr>
        <p:spPr bwMode="auto">
          <a:xfrm>
            <a:off x="2619217" y="350361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" name="Line 28"/>
          <p:cNvSpPr>
            <a:spLocks noChangeShapeType="1"/>
          </p:cNvSpPr>
          <p:nvPr/>
        </p:nvSpPr>
        <p:spPr bwMode="auto">
          <a:xfrm>
            <a:off x="4033006" y="5562601"/>
            <a:ext cx="1588" cy="128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Line 34"/>
          <p:cNvSpPr>
            <a:spLocks noChangeShapeType="1"/>
          </p:cNvSpPr>
          <p:nvPr/>
        </p:nvSpPr>
        <p:spPr bwMode="auto">
          <a:xfrm>
            <a:off x="4648201" y="5557837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Text Box 37"/>
          <p:cNvSpPr txBox="1">
            <a:spLocks noChangeArrowheads="1"/>
          </p:cNvSpPr>
          <p:nvPr/>
        </p:nvSpPr>
        <p:spPr bwMode="auto">
          <a:xfrm>
            <a:off x="2335212" y="1295401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 sz="40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i="1" dirty="0"/>
              <a:t>P</a:t>
            </a:r>
          </a:p>
        </p:txBody>
      </p:sp>
      <p:sp>
        <p:nvSpPr>
          <p:cNvPr id="59" name="Text Box 11"/>
          <p:cNvSpPr txBox="1">
            <a:spLocks noChangeArrowheads="1"/>
          </p:cNvSpPr>
          <p:nvPr/>
        </p:nvSpPr>
        <p:spPr bwMode="auto">
          <a:xfrm>
            <a:off x="6407150" y="1504950"/>
            <a:ext cx="450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1" dirty="0">
                <a:solidFill>
                  <a:srgbClr val="0070C0"/>
                </a:solidFill>
                <a:latin typeface="Arial" charset="0"/>
              </a:rPr>
              <a:t>S</a:t>
            </a:r>
            <a:r>
              <a:rPr lang="en-US" altLang="en-US" sz="2000" b="1" baseline="-25000" dirty="0">
                <a:solidFill>
                  <a:srgbClr val="0070C0"/>
                </a:solidFill>
                <a:latin typeface="Arial" charset="0"/>
              </a:rPr>
              <a:t>0</a:t>
            </a:r>
          </a:p>
        </p:txBody>
      </p:sp>
      <p:sp>
        <p:nvSpPr>
          <p:cNvPr id="61" name="Text Box 12"/>
          <p:cNvSpPr txBox="1">
            <a:spLocks noChangeArrowheads="1"/>
          </p:cNvSpPr>
          <p:nvPr/>
        </p:nvSpPr>
        <p:spPr bwMode="auto">
          <a:xfrm>
            <a:off x="6545264" y="5010150"/>
            <a:ext cx="465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1" dirty="0">
                <a:solidFill>
                  <a:srgbClr val="FF0000"/>
                </a:solidFill>
                <a:latin typeface="Arial" charset="0"/>
              </a:rPr>
              <a:t>D</a:t>
            </a:r>
            <a:r>
              <a:rPr lang="en-US" altLang="en-US" sz="2000" b="1" baseline="-25000" dirty="0">
                <a:solidFill>
                  <a:srgbClr val="FF0000"/>
                </a:solidFill>
                <a:latin typeface="Arial" charset="0"/>
              </a:rPr>
              <a:t>0</a:t>
            </a:r>
          </a:p>
        </p:txBody>
      </p:sp>
      <p:sp>
        <p:nvSpPr>
          <p:cNvPr id="64" name="Line 13"/>
          <p:cNvSpPr>
            <a:spLocks noChangeShapeType="1"/>
          </p:cNvSpPr>
          <p:nvPr/>
        </p:nvSpPr>
        <p:spPr bwMode="auto">
          <a:xfrm flipH="1">
            <a:off x="2747962" y="35052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Calibri" pitchFamily="34" charset="0"/>
              <a:cs typeface="Arial" charset="0"/>
            </a:endParaRPr>
          </a:p>
        </p:txBody>
      </p:sp>
      <p:cxnSp>
        <p:nvCxnSpPr>
          <p:cNvPr id="66" name="Straight Connector 34"/>
          <p:cNvCxnSpPr>
            <a:cxnSpLocks noChangeShapeType="1"/>
          </p:cNvCxnSpPr>
          <p:nvPr/>
        </p:nvCxnSpPr>
        <p:spPr bwMode="auto">
          <a:xfrm>
            <a:off x="4671218" y="3513934"/>
            <a:ext cx="795" cy="2027234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" name="Straight Connector 2"/>
          <p:cNvCxnSpPr/>
          <p:nvPr/>
        </p:nvCxnSpPr>
        <p:spPr>
          <a:xfrm flipV="1">
            <a:off x="2743200" y="1883568"/>
            <a:ext cx="3663950" cy="3374234"/>
          </a:xfrm>
          <a:prstGeom prst="line">
            <a:avLst/>
          </a:prstGeom>
          <a:ln w="444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743200" y="1371601"/>
            <a:ext cx="0" cy="41608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2743200" y="5532435"/>
            <a:ext cx="487680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"/>
          <p:cNvSpPr>
            <a:spLocks noChangeArrowheads="1"/>
          </p:cNvSpPr>
          <p:nvPr/>
        </p:nvSpPr>
        <p:spPr bwMode="auto">
          <a:xfrm>
            <a:off x="2403455" y="3070225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7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79" name="Rectangle 8"/>
          <p:cNvSpPr>
            <a:spLocks noChangeArrowheads="1"/>
          </p:cNvSpPr>
          <p:nvPr/>
        </p:nvSpPr>
        <p:spPr bwMode="auto">
          <a:xfrm>
            <a:off x="2446498" y="28194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80" name="Line 23"/>
          <p:cNvSpPr>
            <a:spLocks noChangeShapeType="1"/>
          </p:cNvSpPr>
          <p:nvPr/>
        </p:nvSpPr>
        <p:spPr bwMode="auto">
          <a:xfrm>
            <a:off x="2614614" y="319944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" name="Rectangle 7"/>
          <p:cNvSpPr>
            <a:spLocks noChangeArrowheads="1"/>
          </p:cNvSpPr>
          <p:nvPr/>
        </p:nvSpPr>
        <p:spPr bwMode="auto">
          <a:xfrm>
            <a:off x="2403455" y="2786390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8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82" name="Rectangle 8"/>
          <p:cNvSpPr>
            <a:spLocks noChangeArrowheads="1"/>
          </p:cNvSpPr>
          <p:nvPr/>
        </p:nvSpPr>
        <p:spPr bwMode="auto">
          <a:xfrm>
            <a:off x="2446498" y="253556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83" name="Line 23"/>
          <p:cNvSpPr>
            <a:spLocks noChangeShapeType="1"/>
          </p:cNvSpPr>
          <p:nvPr/>
        </p:nvSpPr>
        <p:spPr bwMode="auto">
          <a:xfrm>
            <a:off x="2614614" y="2915609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" name="Rectangle 7"/>
          <p:cNvSpPr>
            <a:spLocks noChangeArrowheads="1"/>
          </p:cNvSpPr>
          <p:nvPr/>
        </p:nvSpPr>
        <p:spPr bwMode="auto">
          <a:xfrm>
            <a:off x="2403455" y="2481590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9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85" name="Rectangle 8"/>
          <p:cNvSpPr>
            <a:spLocks noChangeArrowheads="1"/>
          </p:cNvSpPr>
          <p:nvPr/>
        </p:nvSpPr>
        <p:spPr bwMode="auto">
          <a:xfrm>
            <a:off x="2446498" y="215456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dirty="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86" name="Line 23"/>
          <p:cNvSpPr>
            <a:spLocks noChangeShapeType="1"/>
          </p:cNvSpPr>
          <p:nvPr/>
        </p:nvSpPr>
        <p:spPr bwMode="auto">
          <a:xfrm>
            <a:off x="2614614" y="2615407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" name="Rectangle 7"/>
          <p:cNvSpPr>
            <a:spLocks noChangeArrowheads="1"/>
          </p:cNvSpPr>
          <p:nvPr/>
        </p:nvSpPr>
        <p:spPr bwMode="auto">
          <a:xfrm>
            <a:off x="2297342" y="2209800"/>
            <a:ext cx="304571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10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88" name="Rectangle 8"/>
          <p:cNvSpPr>
            <a:spLocks noChangeArrowheads="1"/>
          </p:cNvSpPr>
          <p:nvPr/>
        </p:nvSpPr>
        <p:spPr bwMode="auto">
          <a:xfrm>
            <a:off x="2446498" y="19050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89" name="Line 23"/>
          <p:cNvSpPr>
            <a:spLocks noChangeShapeType="1"/>
          </p:cNvSpPr>
          <p:nvPr/>
        </p:nvSpPr>
        <p:spPr bwMode="auto">
          <a:xfrm>
            <a:off x="2614614" y="2339019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" name="Rectangle 7"/>
          <p:cNvSpPr>
            <a:spLocks noChangeArrowheads="1"/>
          </p:cNvSpPr>
          <p:nvPr/>
        </p:nvSpPr>
        <p:spPr bwMode="auto">
          <a:xfrm>
            <a:off x="2298284" y="1905000"/>
            <a:ext cx="292516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11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91" name="Rectangle 8"/>
          <p:cNvSpPr>
            <a:spLocks noChangeArrowheads="1"/>
          </p:cNvSpPr>
          <p:nvPr/>
        </p:nvSpPr>
        <p:spPr bwMode="auto">
          <a:xfrm>
            <a:off x="2446498" y="17526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92" name="Line 23"/>
          <p:cNvSpPr>
            <a:spLocks noChangeShapeType="1"/>
          </p:cNvSpPr>
          <p:nvPr/>
        </p:nvSpPr>
        <p:spPr bwMode="auto">
          <a:xfrm>
            <a:off x="2614614" y="205644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" name="Rectangle 7"/>
          <p:cNvSpPr>
            <a:spLocks noChangeArrowheads="1"/>
          </p:cNvSpPr>
          <p:nvPr/>
        </p:nvSpPr>
        <p:spPr bwMode="auto">
          <a:xfrm>
            <a:off x="2286001" y="1622425"/>
            <a:ext cx="304571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12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95" name="Line 23"/>
          <p:cNvSpPr>
            <a:spLocks noChangeShapeType="1"/>
          </p:cNvSpPr>
          <p:nvPr/>
        </p:nvSpPr>
        <p:spPr bwMode="auto">
          <a:xfrm>
            <a:off x="2614614" y="175164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" name="Line 28"/>
          <p:cNvSpPr>
            <a:spLocks noChangeShapeType="1"/>
          </p:cNvSpPr>
          <p:nvPr/>
        </p:nvSpPr>
        <p:spPr bwMode="auto">
          <a:xfrm>
            <a:off x="3046412" y="5562601"/>
            <a:ext cx="1588" cy="128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" name="Line 34"/>
          <p:cNvSpPr>
            <a:spLocks noChangeShapeType="1"/>
          </p:cNvSpPr>
          <p:nvPr/>
        </p:nvSpPr>
        <p:spPr bwMode="auto">
          <a:xfrm>
            <a:off x="4343401" y="5562600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Line 34"/>
          <p:cNvSpPr>
            <a:spLocks noChangeShapeType="1"/>
          </p:cNvSpPr>
          <p:nvPr/>
        </p:nvSpPr>
        <p:spPr bwMode="auto">
          <a:xfrm>
            <a:off x="3406775" y="5541168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" name="Line 34"/>
          <p:cNvSpPr>
            <a:spLocks noChangeShapeType="1"/>
          </p:cNvSpPr>
          <p:nvPr/>
        </p:nvSpPr>
        <p:spPr bwMode="auto">
          <a:xfrm>
            <a:off x="3732214" y="5525767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Rounded Rectangle 115"/>
          <p:cNvSpPr/>
          <p:nvPr/>
        </p:nvSpPr>
        <p:spPr>
          <a:xfrm>
            <a:off x="6429382" y="2209801"/>
            <a:ext cx="2943219" cy="1003765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The sum of all individual consumer surplus</a:t>
            </a:r>
            <a:endParaRPr lang="en-US" altLang="en-US" sz="2000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122" name="Rounded Rectangle 121"/>
          <p:cNvSpPr/>
          <p:nvPr/>
        </p:nvSpPr>
        <p:spPr>
          <a:xfrm>
            <a:off x="6429382" y="3429001"/>
            <a:ext cx="2943219" cy="1316995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The area below the demand curve and above the price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2" name="Isosceles Triangle 1"/>
          <p:cNvSpPr/>
          <p:nvPr/>
        </p:nvSpPr>
        <p:spPr>
          <a:xfrm>
            <a:off x="2776538" y="1774826"/>
            <a:ext cx="1924049" cy="1730375"/>
          </a:xfrm>
          <a:prstGeom prst="triangle">
            <a:avLst>
              <a:gd name="adj" fmla="val 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2743200" y="1752600"/>
            <a:ext cx="3810000" cy="3349128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19"/>
          <p:cNvSpPr>
            <a:spLocks noChangeArrowheads="1"/>
          </p:cNvSpPr>
          <p:nvPr/>
        </p:nvSpPr>
        <p:spPr bwMode="auto">
          <a:xfrm>
            <a:off x="4579777" y="3385343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2743201" y="2743201"/>
            <a:ext cx="137160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 sz="40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latin typeface="Open Sans" charset="0"/>
                <a:ea typeface="Open Sans" charset="0"/>
                <a:cs typeface="Open Sans" charset="0"/>
              </a:rPr>
              <a:t>consumer</a:t>
            </a:r>
            <a:r>
              <a:rPr lang="en-US" altLang="en-US" sz="1800" dirty="0"/>
              <a:t> </a:t>
            </a:r>
            <a:r>
              <a:rPr lang="en-US" altLang="en-US" sz="1800" dirty="0">
                <a:latin typeface="Open Sans" charset="0"/>
                <a:ea typeface="Open Sans" charset="0"/>
                <a:cs typeface="Open Sans" charset="0"/>
              </a:rPr>
              <a:t>surplus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6553200"/>
            <a:ext cx="8171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Century Gothic" panose="020B0502020202020204" pitchFamily="34" charset="0"/>
              </a:rPr>
              <a:t>SLIDE </a:t>
            </a:r>
            <a:fld id="{6FD6B7A6-E1EC-4D2B-BE3B-190BA12621E0}" type="slidenum">
              <a:rPr lang="en-US" sz="110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5</a:t>
            </a:fld>
            <a:endParaRPr lang="en-US" sz="11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22368"/>
      </p:ext>
    </p:extLst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ound Diagonal Corner Rectangle 52"/>
          <p:cNvSpPr/>
          <p:nvPr/>
        </p:nvSpPr>
        <p:spPr>
          <a:xfrm>
            <a:off x="1676400" y="152400"/>
            <a:ext cx="6858000" cy="6096000"/>
          </a:xfrm>
          <a:prstGeom prst="round2DiagRect">
            <a:avLst>
              <a:gd name="adj1" fmla="val 6583"/>
              <a:gd name="adj2" fmla="val 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 Diagonal Corner Rectangle 53"/>
          <p:cNvSpPr/>
          <p:nvPr/>
        </p:nvSpPr>
        <p:spPr>
          <a:xfrm>
            <a:off x="1676400" y="152400"/>
            <a:ext cx="6858000" cy="71807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1666082" y="211353"/>
            <a:ext cx="67802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300" b="1" dirty="0">
                <a:solidFill>
                  <a:schemeClr val="bg1"/>
                </a:solidFill>
                <a:latin typeface="Open Sans Condensed" charset="0"/>
                <a:ea typeface="Open Sans Condensed" charset="0"/>
                <a:cs typeface="Open Sans Condensed" charset="0"/>
              </a:rPr>
              <a:t>INDIVIDUAL PRODUCER SURPLUS</a:t>
            </a:r>
            <a:endParaRPr lang="en-US" sz="2800" b="1" dirty="0">
              <a:solidFill>
                <a:schemeClr val="bg1"/>
              </a:solidFill>
              <a:latin typeface="Open Sans Condensed" charset="0"/>
              <a:ea typeface="Open Sans Condensed" charset="0"/>
              <a:cs typeface="Open Sans Condensed" charset="0"/>
            </a:endParaRPr>
          </a:p>
        </p:txBody>
      </p:sp>
      <p:sp>
        <p:nvSpPr>
          <p:cNvPr id="106" name="Rectangle 7"/>
          <p:cNvSpPr>
            <a:spLocks noChangeArrowheads="1"/>
          </p:cNvSpPr>
          <p:nvPr/>
        </p:nvSpPr>
        <p:spPr bwMode="auto">
          <a:xfrm>
            <a:off x="2438400" y="3352800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6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7" name="Rectangle 8"/>
          <p:cNvSpPr>
            <a:spLocks noChangeArrowheads="1"/>
          </p:cNvSpPr>
          <p:nvPr/>
        </p:nvSpPr>
        <p:spPr bwMode="auto">
          <a:xfrm>
            <a:off x="2451101" y="310197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9" name="Rectangle 10"/>
          <p:cNvSpPr>
            <a:spLocks noChangeArrowheads="1"/>
          </p:cNvSpPr>
          <p:nvPr/>
        </p:nvSpPr>
        <p:spPr bwMode="auto">
          <a:xfrm>
            <a:off x="2451101" y="3589337"/>
            <a:ext cx="603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1" name="Rectangle 12"/>
          <p:cNvSpPr>
            <a:spLocks noChangeArrowheads="1"/>
          </p:cNvSpPr>
          <p:nvPr/>
        </p:nvSpPr>
        <p:spPr bwMode="auto">
          <a:xfrm>
            <a:off x="2451101" y="435927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3" name="Rectangle 14"/>
          <p:cNvSpPr>
            <a:spLocks noChangeArrowheads="1"/>
          </p:cNvSpPr>
          <p:nvPr/>
        </p:nvSpPr>
        <p:spPr bwMode="auto">
          <a:xfrm>
            <a:off x="2544762" y="5605462"/>
            <a:ext cx="12223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0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4" name="Rectangle 15"/>
          <p:cNvSpPr>
            <a:spLocks noChangeArrowheads="1"/>
          </p:cNvSpPr>
          <p:nvPr/>
        </p:nvSpPr>
        <p:spPr bwMode="auto">
          <a:xfrm>
            <a:off x="2747962" y="5715001"/>
            <a:ext cx="235743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    </a:t>
            </a:r>
            <a:r>
              <a:rPr lang="en-US" b="1" dirty="0">
                <a:solidFill>
                  <a:srgbClr val="1F1A17"/>
                </a:solidFill>
                <a:latin typeface="Arial" pitchFamily="34" charset="0"/>
              </a:rPr>
              <a:t>1</a:t>
            </a:r>
            <a:r>
              <a:rPr lang="en-US" sz="300" b="1" dirty="0">
                <a:solidFill>
                  <a:srgbClr val="1F1A17"/>
                </a:solidFill>
                <a:latin typeface="Arial" pitchFamily="34" charset="0"/>
              </a:rPr>
              <a:t>                    </a:t>
            </a:r>
            <a:r>
              <a:rPr lang="en-US" b="1" dirty="0">
                <a:solidFill>
                  <a:srgbClr val="1F1A17"/>
                </a:solidFill>
                <a:latin typeface="Arial" pitchFamily="34" charset="0"/>
              </a:rPr>
              <a:t>2</a:t>
            </a:r>
            <a:r>
              <a:rPr lang="en-US" sz="300" b="1" dirty="0">
                <a:solidFill>
                  <a:srgbClr val="1F1A17"/>
                </a:solidFill>
                <a:latin typeface="Arial" pitchFamily="34" charset="0"/>
              </a:rPr>
              <a:t>                      </a:t>
            </a: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               6                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5" name="Rectangle 16"/>
          <p:cNvSpPr>
            <a:spLocks noChangeArrowheads="1"/>
          </p:cNvSpPr>
          <p:nvPr/>
        </p:nvSpPr>
        <p:spPr bwMode="auto">
          <a:xfrm>
            <a:off x="7669212" y="5410201"/>
            <a:ext cx="17953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1F1A17"/>
                </a:solidFill>
                <a:latin typeface="Arial" pitchFamily="34" charset="0"/>
              </a:rPr>
              <a:t>Q</a:t>
            </a:r>
            <a:endParaRPr lang="en-US" sz="28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20" name="Line 23"/>
          <p:cNvSpPr>
            <a:spLocks noChangeShapeType="1"/>
          </p:cNvSpPr>
          <p:nvPr/>
        </p:nvSpPr>
        <p:spPr bwMode="auto">
          <a:xfrm>
            <a:off x="2619217" y="350361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Line 34"/>
          <p:cNvSpPr>
            <a:spLocks noChangeShapeType="1"/>
          </p:cNvSpPr>
          <p:nvPr/>
        </p:nvSpPr>
        <p:spPr bwMode="auto">
          <a:xfrm>
            <a:off x="4681856" y="5562600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Text Box 37"/>
          <p:cNvSpPr txBox="1">
            <a:spLocks noChangeArrowheads="1"/>
          </p:cNvSpPr>
          <p:nvPr/>
        </p:nvSpPr>
        <p:spPr bwMode="auto">
          <a:xfrm>
            <a:off x="2335212" y="1295401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 sz="40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i="1" dirty="0"/>
              <a:t>P</a:t>
            </a:r>
          </a:p>
        </p:txBody>
      </p:sp>
      <p:sp>
        <p:nvSpPr>
          <p:cNvPr id="59" name="Text Box 11"/>
          <p:cNvSpPr txBox="1">
            <a:spLocks noChangeArrowheads="1"/>
          </p:cNvSpPr>
          <p:nvPr/>
        </p:nvSpPr>
        <p:spPr bwMode="auto">
          <a:xfrm>
            <a:off x="6407150" y="1504950"/>
            <a:ext cx="450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1" dirty="0">
                <a:solidFill>
                  <a:srgbClr val="0070C0"/>
                </a:solidFill>
                <a:latin typeface="Arial" charset="0"/>
              </a:rPr>
              <a:t>S</a:t>
            </a:r>
            <a:r>
              <a:rPr lang="en-US" altLang="en-US" sz="2000" b="1" baseline="-25000" dirty="0">
                <a:solidFill>
                  <a:srgbClr val="0070C0"/>
                </a:solidFill>
                <a:latin typeface="Arial" charset="0"/>
              </a:rPr>
              <a:t>0</a:t>
            </a:r>
          </a:p>
        </p:txBody>
      </p:sp>
      <p:sp>
        <p:nvSpPr>
          <p:cNvPr id="61" name="Text Box 12"/>
          <p:cNvSpPr txBox="1">
            <a:spLocks noChangeArrowheads="1"/>
          </p:cNvSpPr>
          <p:nvPr/>
        </p:nvSpPr>
        <p:spPr bwMode="auto">
          <a:xfrm>
            <a:off x="6545264" y="5010150"/>
            <a:ext cx="465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1" dirty="0">
                <a:solidFill>
                  <a:srgbClr val="FF0000"/>
                </a:solidFill>
                <a:latin typeface="Arial" charset="0"/>
              </a:rPr>
              <a:t>D</a:t>
            </a:r>
            <a:r>
              <a:rPr lang="en-US" altLang="en-US" sz="2000" b="1" baseline="-25000" dirty="0">
                <a:solidFill>
                  <a:srgbClr val="FF0000"/>
                </a:solidFill>
                <a:latin typeface="Arial" charset="0"/>
              </a:rPr>
              <a:t>0</a:t>
            </a:r>
          </a:p>
        </p:txBody>
      </p:sp>
      <p:sp>
        <p:nvSpPr>
          <p:cNvPr id="64" name="Line 13"/>
          <p:cNvSpPr>
            <a:spLocks noChangeShapeType="1"/>
          </p:cNvSpPr>
          <p:nvPr/>
        </p:nvSpPr>
        <p:spPr bwMode="auto">
          <a:xfrm flipH="1">
            <a:off x="2747962" y="3505200"/>
            <a:ext cx="1981200" cy="0"/>
          </a:xfrm>
          <a:prstGeom prst="line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Calibri" pitchFamily="34" charset="0"/>
              <a:cs typeface="Arial" charset="0"/>
            </a:endParaRPr>
          </a:p>
        </p:txBody>
      </p:sp>
      <p:cxnSp>
        <p:nvCxnSpPr>
          <p:cNvPr id="66" name="Straight Connector 34"/>
          <p:cNvCxnSpPr>
            <a:cxnSpLocks noChangeShapeType="1"/>
          </p:cNvCxnSpPr>
          <p:nvPr/>
        </p:nvCxnSpPr>
        <p:spPr bwMode="auto">
          <a:xfrm>
            <a:off x="4671218" y="3513934"/>
            <a:ext cx="795" cy="2027234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67" name="Straight Connector 34"/>
          <p:cNvCxnSpPr>
            <a:cxnSpLocks noChangeShapeType="1"/>
          </p:cNvCxnSpPr>
          <p:nvPr/>
        </p:nvCxnSpPr>
        <p:spPr bwMode="auto">
          <a:xfrm>
            <a:off x="3048000" y="2057400"/>
            <a:ext cx="0" cy="3480592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" name="Straight Connector 4"/>
          <p:cNvCxnSpPr/>
          <p:nvPr/>
        </p:nvCxnSpPr>
        <p:spPr>
          <a:xfrm>
            <a:off x="2743200" y="1752600"/>
            <a:ext cx="3810000" cy="3349128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2743200" y="1883568"/>
            <a:ext cx="3663950" cy="3374234"/>
          </a:xfrm>
          <a:prstGeom prst="line">
            <a:avLst/>
          </a:prstGeom>
          <a:ln w="444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19"/>
          <p:cNvSpPr>
            <a:spLocks noChangeArrowheads="1"/>
          </p:cNvSpPr>
          <p:nvPr/>
        </p:nvSpPr>
        <p:spPr bwMode="auto">
          <a:xfrm>
            <a:off x="4579777" y="3385343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  <a:latin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2743200" y="1371601"/>
            <a:ext cx="0" cy="41608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2743200" y="5532435"/>
            <a:ext cx="487680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34"/>
          <p:cNvCxnSpPr>
            <a:cxnSpLocks noChangeShapeType="1"/>
          </p:cNvCxnSpPr>
          <p:nvPr/>
        </p:nvCxnSpPr>
        <p:spPr bwMode="auto">
          <a:xfrm>
            <a:off x="3733800" y="2615406"/>
            <a:ext cx="0" cy="2917028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74" name="Straight Connector 34"/>
          <p:cNvCxnSpPr>
            <a:cxnSpLocks noChangeShapeType="1"/>
          </p:cNvCxnSpPr>
          <p:nvPr/>
        </p:nvCxnSpPr>
        <p:spPr bwMode="auto">
          <a:xfrm>
            <a:off x="4344195" y="3200400"/>
            <a:ext cx="0" cy="2332034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76" name="Straight Connector 34"/>
          <p:cNvCxnSpPr>
            <a:cxnSpLocks noChangeShapeType="1"/>
          </p:cNvCxnSpPr>
          <p:nvPr/>
        </p:nvCxnSpPr>
        <p:spPr bwMode="auto">
          <a:xfrm>
            <a:off x="4037013" y="2895600"/>
            <a:ext cx="2383" cy="2636834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77" name="Straight Connector 34"/>
          <p:cNvCxnSpPr>
            <a:cxnSpLocks noChangeShapeType="1"/>
          </p:cNvCxnSpPr>
          <p:nvPr/>
        </p:nvCxnSpPr>
        <p:spPr bwMode="auto">
          <a:xfrm flipH="1">
            <a:off x="3402329" y="2340606"/>
            <a:ext cx="6032" cy="3191829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94" name="Rectangle 8"/>
          <p:cNvSpPr>
            <a:spLocks noChangeArrowheads="1"/>
          </p:cNvSpPr>
          <p:nvPr/>
        </p:nvSpPr>
        <p:spPr bwMode="auto">
          <a:xfrm>
            <a:off x="2446498" y="13716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96" name="Line 28"/>
          <p:cNvSpPr>
            <a:spLocks noChangeShapeType="1"/>
          </p:cNvSpPr>
          <p:nvPr/>
        </p:nvSpPr>
        <p:spPr bwMode="auto">
          <a:xfrm>
            <a:off x="3046412" y="5562601"/>
            <a:ext cx="1588" cy="128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Line 34"/>
          <p:cNvSpPr>
            <a:spLocks noChangeShapeType="1"/>
          </p:cNvSpPr>
          <p:nvPr/>
        </p:nvSpPr>
        <p:spPr bwMode="auto">
          <a:xfrm>
            <a:off x="3406775" y="5541168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03" name="Straight Connector 102"/>
          <p:cNvCxnSpPr/>
          <p:nvPr/>
        </p:nvCxnSpPr>
        <p:spPr>
          <a:xfrm>
            <a:off x="2701766" y="4572000"/>
            <a:ext cx="72723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 flipV="1">
            <a:off x="2749550" y="4876801"/>
            <a:ext cx="298450" cy="285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2749550" y="3506788"/>
            <a:ext cx="298450" cy="13811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ounded Rectangle 111"/>
          <p:cNvSpPr/>
          <p:nvPr/>
        </p:nvSpPr>
        <p:spPr>
          <a:xfrm>
            <a:off x="3429000" y="2057401"/>
            <a:ext cx="990601" cy="1066799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The price is $6…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Rounded Rectangle 115"/>
              <p:cNvSpPr/>
              <p:nvPr/>
            </p:nvSpPr>
            <p:spPr>
              <a:xfrm>
                <a:off x="6429382" y="2209801"/>
                <a:ext cx="3019419" cy="1003765"/>
              </a:xfrm>
              <a:prstGeom prst="roundRect">
                <a:avLst>
                  <a:gd name="adj" fmla="val 9475"/>
                </a:avLst>
              </a:prstGeom>
              <a:solidFill>
                <a:srgbClr val="009999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2000" dirty="0">
                    <a:solidFill>
                      <a:schemeClr val="bg1">
                        <a:lumMod val="95000"/>
                      </a:schemeClr>
                    </a:solidFill>
                    <a:latin typeface="Open Sans" charset="0"/>
                    <a:ea typeface="Open Sans" charset="0"/>
                    <a:cs typeface="Open Sans" charset="0"/>
                  </a:rPr>
                  <a:t>Producer A’s surplus is  $6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charset="0"/>
                        <a:ea typeface="Open Sans" charset="0"/>
                        <a:cs typeface="Open Sans" charset="0"/>
                      </a:rPr>
                      <m:t>−</m:t>
                    </m:r>
                  </m:oMath>
                </a14:m>
                <a:r>
                  <a:rPr lang="en-US" altLang="en-US" sz="2000" dirty="0">
                    <a:solidFill>
                      <a:schemeClr val="bg1">
                        <a:lumMod val="95000"/>
                      </a:schemeClr>
                    </a:solidFill>
                    <a:latin typeface="Open Sans" charset="0"/>
                    <a:ea typeface="Open Sans" charset="0"/>
                    <a:cs typeface="Open Sans" charset="0"/>
                  </a:rPr>
                  <a:t> $2 = $4.</a:t>
                </a:r>
                <a:endParaRPr lang="en-US" altLang="en-US" sz="2000" i="1" baseline="-25000" dirty="0">
                  <a:solidFill>
                    <a:schemeClr val="bg1">
                      <a:lumMod val="95000"/>
                    </a:schemeClr>
                  </a:solidFill>
                  <a:latin typeface="Open Sans" charset="0"/>
                  <a:ea typeface="Open Sans" charset="0"/>
                  <a:cs typeface="Open Sans" charset="0"/>
                </a:endParaRPr>
              </a:p>
            </p:txBody>
          </p:sp>
        </mc:Choice>
        <mc:Fallback>
          <p:sp>
            <p:nvSpPr>
              <p:cNvPr id="116" name="Rounded Rectangle 1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82" y="2209801"/>
                <a:ext cx="3019419" cy="1003765"/>
              </a:xfrm>
              <a:prstGeom prst="roundRect">
                <a:avLst>
                  <a:gd name="adj" fmla="val 9475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/>
          <p:cNvCxnSpPr>
            <a:stCxn id="60" idx="1"/>
          </p:cNvCxnSpPr>
          <p:nvPr/>
        </p:nvCxnSpPr>
        <p:spPr>
          <a:xfrm flipH="1">
            <a:off x="3074991" y="4700588"/>
            <a:ext cx="849308" cy="187324"/>
          </a:xfrm>
          <a:prstGeom prst="straightConnector1">
            <a:avLst/>
          </a:prstGeom>
          <a:ln w="38100">
            <a:solidFill>
              <a:srgbClr val="00808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flipH="1">
            <a:off x="3046412" y="3070226"/>
            <a:ext cx="420688" cy="428465"/>
          </a:xfrm>
          <a:prstGeom prst="straightConnector1">
            <a:avLst/>
          </a:prstGeom>
          <a:ln w="38100">
            <a:solidFill>
              <a:srgbClr val="00808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3074989" y="3506788"/>
            <a:ext cx="313114" cy="106521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2" name="Rounded Rectangle 121"/>
              <p:cNvSpPr/>
              <p:nvPr/>
            </p:nvSpPr>
            <p:spPr>
              <a:xfrm>
                <a:off x="6429382" y="3429001"/>
                <a:ext cx="3019419" cy="1316995"/>
              </a:xfrm>
              <a:prstGeom prst="roundRect">
                <a:avLst>
                  <a:gd name="adj" fmla="val 9475"/>
                </a:avLst>
              </a:prstGeom>
              <a:solidFill>
                <a:srgbClr val="009999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2000" dirty="0">
                    <a:solidFill>
                      <a:schemeClr val="bg1">
                        <a:lumMod val="95000"/>
                      </a:schemeClr>
                    </a:solidFill>
                    <a:latin typeface="Open Sans" charset="0"/>
                    <a:ea typeface="Open Sans" charset="0"/>
                    <a:cs typeface="Open Sans" charset="0"/>
                  </a:rPr>
                  <a:t>Producer B is willing to sell at $3; producer surplus is $6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charset="0"/>
                        <a:ea typeface="Open Sans" charset="0"/>
                        <a:cs typeface="Open Sans" charset="0"/>
                      </a:rPr>
                      <m:t>−</m:t>
                    </m:r>
                  </m:oMath>
                </a14:m>
                <a:r>
                  <a:rPr lang="en-US" altLang="en-US" sz="2000" dirty="0">
                    <a:solidFill>
                      <a:schemeClr val="bg1">
                        <a:lumMod val="95000"/>
                      </a:schemeClr>
                    </a:solidFill>
                    <a:latin typeface="Open Sans" charset="0"/>
                    <a:ea typeface="Open Sans" charset="0"/>
                    <a:cs typeface="Open Sans" charset="0"/>
                  </a:rPr>
                  <a:t> $3 = $3.</a:t>
                </a:r>
                <a:endParaRPr lang="en-US" altLang="en-US" sz="2000" i="1" baseline="-25000" dirty="0">
                  <a:solidFill>
                    <a:schemeClr val="bg1">
                      <a:lumMod val="95000"/>
                    </a:schemeClr>
                  </a:solidFill>
                  <a:latin typeface="Open Sans" charset="0"/>
                  <a:ea typeface="Open Sans" charset="0"/>
                  <a:cs typeface="Open Sans" charset="0"/>
                </a:endParaRPr>
              </a:p>
            </p:txBody>
          </p:sp>
        </mc:Choice>
        <mc:Fallback>
          <p:sp>
            <p:nvSpPr>
              <p:cNvPr id="122" name="Rounded Rectangle 1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82" y="3429001"/>
                <a:ext cx="3019419" cy="1316995"/>
              </a:xfrm>
              <a:prstGeom prst="roundRect">
                <a:avLst>
                  <a:gd name="adj" fmla="val 9475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Rounded Rectangle 122"/>
          <p:cNvSpPr/>
          <p:nvPr/>
        </p:nvSpPr>
        <p:spPr>
          <a:xfrm>
            <a:off x="7519990" y="4931404"/>
            <a:ext cx="1852610" cy="402597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And so on…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3924300" y="4191001"/>
            <a:ext cx="2400301" cy="1019175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…but producer A is willing to sell at $2.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97" name="Rectangle 6"/>
          <p:cNvSpPr>
            <a:spLocks noChangeArrowheads="1"/>
          </p:cNvSpPr>
          <p:nvPr/>
        </p:nvSpPr>
        <p:spPr bwMode="auto">
          <a:xfrm>
            <a:off x="2498340" y="4124484"/>
            <a:ext cx="603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8" name="Rectangle 7"/>
          <p:cNvSpPr>
            <a:spLocks noChangeArrowheads="1"/>
          </p:cNvSpPr>
          <p:nvPr/>
        </p:nvSpPr>
        <p:spPr bwMode="auto">
          <a:xfrm>
            <a:off x="2438400" y="5159375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1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0" name="Rectangle 8"/>
          <p:cNvSpPr>
            <a:spLocks noChangeArrowheads="1"/>
          </p:cNvSpPr>
          <p:nvPr/>
        </p:nvSpPr>
        <p:spPr bwMode="auto">
          <a:xfrm>
            <a:off x="2486046" y="483235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8" name="Line 23"/>
          <p:cNvSpPr>
            <a:spLocks noChangeShapeType="1"/>
          </p:cNvSpPr>
          <p:nvPr/>
        </p:nvSpPr>
        <p:spPr bwMode="auto">
          <a:xfrm>
            <a:off x="2612907" y="5233989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Rectangle 7"/>
          <p:cNvSpPr>
            <a:spLocks noChangeArrowheads="1"/>
          </p:cNvSpPr>
          <p:nvPr/>
        </p:nvSpPr>
        <p:spPr bwMode="auto">
          <a:xfrm>
            <a:off x="2438400" y="4800600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2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24" name="Rectangle 8"/>
          <p:cNvSpPr>
            <a:spLocks noChangeArrowheads="1"/>
          </p:cNvSpPr>
          <p:nvPr/>
        </p:nvSpPr>
        <p:spPr bwMode="auto">
          <a:xfrm>
            <a:off x="2518095" y="462597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26" name="Line 23"/>
          <p:cNvSpPr>
            <a:spLocks noChangeShapeType="1"/>
          </p:cNvSpPr>
          <p:nvPr/>
        </p:nvSpPr>
        <p:spPr bwMode="auto">
          <a:xfrm>
            <a:off x="2608304" y="4886326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7" name="Rectangle 7"/>
          <p:cNvSpPr>
            <a:spLocks noChangeArrowheads="1"/>
          </p:cNvSpPr>
          <p:nvPr/>
        </p:nvSpPr>
        <p:spPr bwMode="auto">
          <a:xfrm>
            <a:off x="2438400" y="4462789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3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28" name="Rectangle 8"/>
          <p:cNvSpPr>
            <a:spLocks noChangeArrowheads="1"/>
          </p:cNvSpPr>
          <p:nvPr/>
        </p:nvSpPr>
        <p:spPr bwMode="auto">
          <a:xfrm>
            <a:off x="2518095" y="434214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29" name="Line 23"/>
          <p:cNvSpPr>
            <a:spLocks noChangeShapeType="1"/>
          </p:cNvSpPr>
          <p:nvPr/>
        </p:nvSpPr>
        <p:spPr bwMode="auto">
          <a:xfrm>
            <a:off x="2601913" y="4572001"/>
            <a:ext cx="145891" cy="1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" name="Rectangle 7"/>
          <p:cNvSpPr>
            <a:spLocks noChangeArrowheads="1"/>
          </p:cNvSpPr>
          <p:nvPr/>
        </p:nvSpPr>
        <p:spPr bwMode="auto">
          <a:xfrm>
            <a:off x="2438400" y="4121637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4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33" name="Rectangle 8"/>
          <p:cNvSpPr>
            <a:spLocks noChangeArrowheads="1"/>
          </p:cNvSpPr>
          <p:nvPr/>
        </p:nvSpPr>
        <p:spPr bwMode="auto">
          <a:xfrm>
            <a:off x="2518095" y="383096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dirty="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34" name="Line 23"/>
          <p:cNvSpPr>
            <a:spLocks noChangeShapeType="1"/>
          </p:cNvSpPr>
          <p:nvPr/>
        </p:nvSpPr>
        <p:spPr bwMode="auto">
          <a:xfrm>
            <a:off x="2637473" y="425545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" name="Rectangle 7"/>
          <p:cNvSpPr>
            <a:spLocks noChangeArrowheads="1"/>
          </p:cNvSpPr>
          <p:nvPr/>
        </p:nvSpPr>
        <p:spPr bwMode="auto">
          <a:xfrm>
            <a:off x="2438400" y="3733800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5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36" name="Rectangle 8"/>
          <p:cNvSpPr>
            <a:spLocks noChangeArrowheads="1"/>
          </p:cNvSpPr>
          <p:nvPr/>
        </p:nvSpPr>
        <p:spPr bwMode="auto">
          <a:xfrm>
            <a:off x="2518095" y="35814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37" name="Line 23"/>
          <p:cNvSpPr>
            <a:spLocks noChangeShapeType="1"/>
          </p:cNvSpPr>
          <p:nvPr/>
        </p:nvSpPr>
        <p:spPr bwMode="auto">
          <a:xfrm>
            <a:off x="2614614" y="388461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" name="Rectangle 8"/>
          <p:cNvSpPr>
            <a:spLocks noChangeArrowheads="1"/>
          </p:cNvSpPr>
          <p:nvPr/>
        </p:nvSpPr>
        <p:spPr bwMode="auto">
          <a:xfrm>
            <a:off x="2518095" y="355917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144000" y="6553200"/>
            <a:ext cx="8171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Century Gothic" panose="020B0502020202020204" pitchFamily="34" charset="0"/>
              </a:rPr>
              <a:t>SLIDE </a:t>
            </a:r>
            <a:fld id="{6FD6B7A6-E1EC-4D2B-BE3B-190BA12621E0}" type="slidenum">
              <a:rPr lang="en-US" sz="110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6</a:t>
            </a:fld>
            <a:endParaRPr lang="en-US" sz="11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183278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 animBg="1"/>
      <p:bldP spid="121" grpId="0" animBg="1"/>
      <p:bldP spid="122" grpId="0" animBg="1"/>
      <p:bldP spid="1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ound Diagonal Corner Rectangle 52"/>
          <p:cNvSpPr/>
          <p:nvPr/>
        </p:nvSpPr>
        <p:spPr>
          <a:xfrm>
            <a:off x="1676400" y="152400"/>
            <a:ext cx="6858000" cy="6096000"/>
          </a:xfrm>
          <a:prstGeom prst="round2DiagRect">
            <a:avLst>
              <a:gd name="adj1" fmla="val 6583"/>
              <a:gd name="adj2" fmla="val 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 Diagonal Corner Rectangle 53"/>
          <p:cNvSpPr/>
          <p:nvPr/>
        </p:nvSpPr>
        <p:spPr>
          <a:xfrm>
            <a:off x="1676400" y="152400"/>
            <a:ext cx="6858000" cy="71807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1666082" y="211353"/>
            <a:ext cx="67802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300" b="1" dirty="0">
                <a:solidFill>
                  <a:schemeClr val="bg1"/>
                </a:solidFill>
                <a:latin typeface="Century Gothic" panose="020B0502020202020204" pitchFamily="34" charset="0"/>
              </a:rPr>
              <a:t>TOTAL PRODUCER SURPLUS</a:t>
            </a:r>
            <a:endParaRPr lang="en-US" sz="28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06" name="Rectangle 7"/>
          <p:cNvSpPr>
            <a:spLocks noChangeArrowheads="1"/>
          </p:cNvSpPr>
          <p:nvPr/>
        </p:nvSpPr>
        <p:spPr bwMode="auto">
          <a:xfrm>
            <a:off x="2438400" y="3352800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6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7" name="Rectangle 8"/>
          <p:cNvSpPr>
            <a:spLocks noChangeArrowheads="1"/>
          </p:cNvSpPr>
          <p:nvPr/>
        </p:nvSpPr>
        <p:spPr bwMode="auto">
          <a:xfrm>
            <a:off x="2451101" y="310197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9" name="Rectangle 10"/>
          <p:cNvSpPr>
            <a:spLocks noChangeArrowheads="1"/>
          </p:cNvSpPr>
          <p:nvPr/>
        </p:nvSpPr>
        <p:spPr bwMode="auto">
          <a:xfrm>
            <a:off x="2451101" y="3589337"/>
            <a:ext cx="603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3" name="Rectangle 14"/>
          <p:cNvSpPr>
            <a:spLocks noChangeArrowheads="1"/>
          </p:cNvSpPr>
          <p:nvPr/>
        </p:nvSpPr>
        <p:spPr bwMode="auto">
          <a:xfrm>
            <a:off x="2544762" y="5605462"/>
            <a:ext cx="12223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0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4" name="Rectangle 15"/>
          <p:cNvSpPr>
            <a:spLocks noChangeArrowheads="1"/>
          </p:cNvSpPr>
          <p:nvPr/>
        </p:nvSpPr>
        <p:spPr bwMode="auto">
          <a:xfrm>
            <a:off x="2747962" y="5715000"/>
            <a:ext cx="235743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            </a:t>
            </a:r>
            <a:r>
              <a:rPr lang="en-US" sz="300" b="1" dirty="0">
                <a:solidFill>
                  <a:srgbClr val="1F1A17"/>
                </a:solidFill>
                <a:latin typeface="Arial" pitchFamily="34" charset="0"/>
              </a:rPr>
              <a:t>                      </a:t>
            </a: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               6                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5" name="Rectangle 16"/>
          <p:cNvSpPr>
            <a:spLocks noChangeArrowheads="1"/>
          </p:cNvSpPr>
          <p:nvPr/>
        </p:nvSpPr>
        <p:spPr bwMode="auto">
          <a:xfrm>
            <a:off x="7669212" y="5410201"/>
            <a:ext cx="17953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b="1" i="1" dirty="0">
                <a:solidFill>
                  <a:srgbClr val="1F1A17"/>
                </a:solidFill>
                <a:latin typeface="Arial" pitchFamily="34" charset="0"/>
              </a:rPr>
              <a:t>Q</a:t>
            </a:r>
            <a:endParaRPr lang="en-US" sz="2800" i="1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20" name="Line 23"/>
          <p:cNvSpPr>
            <a:spLocks noChangeShapeType="1"/>
          </p:cNvSpPr>
          <p:nvPr/>
        </p:nvSpPr>
        <p:spPr bwMode="auto">
          <a:xfrm>
            <a:off x="2619217" y="350361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Line 34"/>
          <p:cNvSpPr>
            <a:spLocks noChangeShapeType="1"/>
          </p:cNvSpPr>
          <p:nvPr/>
        </p:nvSpPr>
        <p:spPr bwMode="auto">
          <a:xfrm>
            <a:off x="4681856" y="5562600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Text Box 37"/>
          <p:cNvSpPr txBox="1">
            <a:spLocks noChangeArrowheads="1"/>
          </p:cNvSpPr>
          <p:nvPr/>
        </p:nvSpPr>
        <p:spPr bwMode="auto">
          <a:xfrm>
            <a:off x="2335212" y="1295401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 sz="40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i="1" dirty="0"/>
              <a:t>P</a:t>
            </a:r>
          </a:p>
        </p:txBody>
      </p:sp>
      <p:sp>
        <p:nvSpPr>
          <p:cNvPr id="59" name="Text Box 11"/>
          <p:cNvSpPr txBox="1">
            <a:spLocks noChangeArrowheads="1"/>
          </p:cNvSpPr>
          <p:nvPr/>
        </p:nvSpPr>
        <p:spPr bwMode="auto">
          <a:xfrm>
            <a:off x="6407150" y="1504950"/>
            <a:ext cx="450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1" dirty="0">
                <a:solidFill>
                  <a:srgbClr val="0070C0"/>
                </a:solidFill>
                <a:latin typeface="Arial" charset="0"/>
              </a:rPr>
              <a:t>S</a:t>
            </a:r>
            <a:r>
              <a:rPr lang="en-US" altLang="en-US" sz="2000" b="1" baseline="-25000" dirty="0">
                <a:solidFill>
                  <a:srgbClr val="0070C0"/>
                </a:solidFill>
                <a:latin typeface="Arial" charset="0"/>
              </a:rPr>
              <a:t>0</a:t>
            </a:r>
          </a:p>
        </p:txBody>
      </p:sp>
      <p:sp>
        <p:nvSpPr>
          <p:cNvPr id="61" name="Text Box 12"/>
          <p:cNvSpPr txBox="1">
            <a:spLocks noChangeArrowheads="1"/>
          </p:cNvSpPr>
          <p:nvPr/>
        </p:nvSpPr>
        <p:spPr bwMode="auto">
          <a:xfrm>
            <a:off x="6545264" y="5010150"/>
            <a:ext cx="465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1" dirty="0">
                <a:solidFill>
                  <a:srgbClr val="FF0000"/>
                </a:solidFill>
                <a:latin typeface="Arial" charset="0"/>
              </a:rPr>
              <a:t>D</a:t>
            </a:r>
            <a:r>
              <a:rPr lang="en-US" altLang="en-US" sz="2000" b="1" baseline="-25000" dirty="0">
                <a:solidFill>
                  <a:srgbClr val="FF0000"/>
                </a:solidFill>
                <a:latin typeface="Arial" charset="0"/>
              </a:rPr>
              <a:t>0</a:t>
            </a:r>
          </a:p>
        </p:txBody>
      </p:sp>
      <p:sp>
        <p:nvSpPr>
          <p:cNvPr id="64" name="Line 13"/>
          <p:cNvSpPr>
            <a:spLocks noChangeShapeType="1"/>
          </p:cNvSpPr>
          <p:nvPr/>
        </p:nvSpPr>
        <p:spPr bwMode="auto">
          <a:xfrm flipH="1">
            <a:off x="2747962" y="3505200"/>
            <a:ext cx="1981200" cy="0"/>
          </a:xfrm>
          <a:prstGeom prst="line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Calibri" pitchFamily="34" charset="0"/>
              <a:cs typeface="Arial" charset="0"/>
            </a:endParaRPr>
          </a:p>
        </p:txBody>
      </p:sp>
      <p:cxnSp>
        <p:nvCxnSpPr>
          <p:cNvPr id="66" name="Straight Connector 34"/>
          <p:cNvCxnSpPr>
            <a:cxnSpLocks noChangeShapeType="1"/>
          </p:cNvCxnSpPr>
          <p:nvPr/>
        </p:nvCxnSpPr>
        <p:spPr bwMode="auto">
          <a:xfrm>
            <a:off x="4671218" y="3513934"/>
            <a:ext cx="795" cy="2027234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" name="Straight Connector 4"/>
          <p:cNvCxnSpPr/>
          <p:nvPr/>
        </p:nvCxnSpPr>
        <p:spPr>
          <a:xfrm>
            <a:off x="2743200" y="1752600"/>
            <a:ext cx="3810000" cy="3349128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2743200" y="5532435"/>
            <a:ext cx="487680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8"/>
          <p:cNvSpPr>
            <a:spLocks noChangeArrowheads="1"/>
          </p:cNvSpPr>
          <p:nvPr/>
        </p:nvSpPr>
        <p:spPr bwMode="auto">
          <a:xfrm>
            <a:off x="2446498" y="13716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dirty="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36" name="Rectangle 8"/>
          <p:cNvSpPr>
            <a:spLocks noChangeArrowheads="1"/>
          </p:cNvSpPr>
          <p:nvPr/>
        </p:nvSpPr>
        <p:spPr bwMode="auto">
          <a:xfrm>
            <a:off x="2518095" y="35814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39" name="Rectangle 8"/>
          <p:cNvSpPr>
            <a:spLocks noChangeArrowheads="1"/>
          </p:cNvSpPr>
          <p:nvPr/>
        </p:nvSpPr>
        <p:spPr bwMode="auto">
          <a:xfrm>
            <a:off x="2518095" y="355917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62" name="Rectangle 7"/>
          <p:cNvSpPr>
            <a:spLocks noChangeArrowheads="1"/>
          </p:cNvSpPr>
          <p:nvPr/>
        </p:nvSpPr>
        <p:spPr bwMode="auto">
          <a:xfrm>
            <a:off x="2433797" y="5105400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1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65" name="Line 23"/>
          <p:cNvSpPr>
            <a:spLocks noChangeShapeType="1"/>
          </p:cNvSpPr>
          <p:nvPr/>
        </p:nvSpPr>
        <p:spPr bwMode="auto">
          <a:xfrm>
            <a:off x="2614614" y="525621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Isosceles Triangle 5"/>
          <p:cNvSpPr/>
          <p:nvPr/>
        </p:nvSpPr>
        <p:spPr>
          <a:xfrm rot="19051192">
            <a:off x="1956361" y="3311662"/>
            <a:ext cx="2564408" cy="1263456"/>
          </a:xfrm>
          <a:prstGeom prst="triangle">
            <a:avLst>
              <a:gd name="adj" fmla="val 47103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2743200" y="1883568"/>
            <a:ext cx="3663950" cy="3374234"/>
          </a:xfrm>
          <a:prstGeom prst="line">
            <a:avLst/>
          </a:prstGeom>
          <a:ln w="444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19"/>
          <p:cNvSpPr>
            <a:spLocks noChangeArrowheads="1"/>
          </p:cNvSpPr>
          <p:nvPr/>
        </p:nvSpPr>
        <p:spPr bwMode="auto">
          <a:xfrm>
            <a:off x="4579777" y="3385343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  <a:latin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2743200" y="1371601"/>
            <a:ext cx="0" cy="41608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 Box 37"/>
          <p:cNvSpPr txBox="1">
            <a:spLocks noChangeArrowheads="1"/>
          </p:cNvSpPr>
          <p:nvPr/>
        </p:nvSpPr>
        <p:spPr bwMode="auto">
          <a:xfrm>
            <a:off x="2819400" y="3620870"/>
            <a:ext cx="121920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 sz="40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/>
              <a:t>producer surplus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29382" y="2209801"/>
            <a:ext cx="2943219" cy="1003765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sum of all individual producer surplus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6429382" y="3429001"/>
            <a:ext cx="2943219" cy="1316995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area above the supply curve and below the price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153401" y="6560940"/>
            <a:ext cx="9589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CHAPTER 4</a:t>
            </a:r>
            <a:r>
              <a:rPr lang="en-US" sz="1100" dirty="0">
                <a:solidFill>
                  <a:srgbClr val="009999"/>
                </a:solidFill>
                <a:latin typeface="Century Gothic" panose="020B0502020202020204" pitchFamily="34" charset="0"/>
              </a:rPr>
              <a:t> </a:t>
            </a:r>
            <a:endParaRPr lang="en-US" sz="11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144000" y="6553200"/>
            <a:ext cx="8171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Century Gothic" panose="020B0502020202020204" pitchFamily="34" charset="0"/>
              </a:rPr>
              <a:t>SLIDE </a:t>
            </a:r>
            <a:fld id="{6FD6B7A6-E1EC-4D2B-BE3B-190BA12621E0}" type="slidenum">
              <a:rPr lang="en-US" sz="110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7</a:t>
            </a:fld>
            <a:endParaRPr lang="en-US" sz="11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796500"/>
      </p:ext>
    </p:extLst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2133600" y="1447800"/>
            <a:ext cx="7315200" cy="4419600"/>
          </a:xfrm>
          <a:prstGeom prst="roundRect">
            <a:avLst>
              <a:gd name="adj" fmla="val 9873"/>
            </a:avLst>
          </a:prstGeom>
          <a:solidFill>
            <a:srgbClr val="00999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86000" y="457201"/>
            <a:ext cx="624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8080"/>
                </a:solidFill>
                <a:latin typeface="Open Sans Condensed" charset="0"/>
                <a:ea typeface="Open Sans Condensed" charset="0"/>
                <a:cs typeface="Open Sans Condensed" charset="0"/>
              </a:rPr>
              <a:t>TOTAL SURPLUS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253616" y="1676400"/>
            <a:ext cx="7195185" cy="396240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3900" dirty="0">
                <a:solidFill>
                  <a:schemeClr val="bg1"/>
                </a:solidFill>
                <a:latin typeface="Century Gothic" panose="020B0502020202020204" pitchFamily="34" charset="0"/>
              </a:rPr>
              <a:t>When markets are efficient, TS is MAXIMIZED! </a:t>
            </a:r>
          </a:p>
          <a:p>
            <a:pPr marL="0" indent="0">
              <a:buNone/>
              <a:defRPr/>
            </a:pPr>
            <a:endParaRPr lang="en-US" sz="42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  <a:defRPr/>
            </a:pPr>
            <a:r>
              <a:rPr lang="en-US" sz="7100" dirty="0">
                <a:solidFill>
                  <a:schemeClr val="bg1"/>
                </a:solidFill>
              </a:rPr>
              <a:t>TS = CS + PS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1807" y="3814762"/>
            <a:ext cx="5638800" cy="1143000"/>
          </a:xfrm>
          <a:prstGeom prst="rect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786621"/>
      </p:ext>
    </p:extLst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ound Diagonal Corner Rectangle 52"/>
          <p:cNvSpPr/>
          <p:nvPr/>
        </p:nvSpPr>
        <p:spPr>
          <a:xfrm>
            <a:off x="1676400" y="152400"/>
            <a:ext cx="7239000" cy="6096000"/>
          </a:xfrm>
          <a:prstGeom prst="round2DiagRect">
            <a:avLst>
              <a:gd name="adj1" fmla="val 6583"/>
              <a:gd name="adj2" fmla="val 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 Diagonal Corner Rectangle 53"/>
          <p:cNvSpPr/>
          <p:nvPr/>
        </p:nvSpPr>
        <p:spPr>
          <a:xfrm>
            <a:off x="1676400" y="152400"/>
            <a:ext cx="7239000" cy="71807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1666082" y="211353"/>
            <a:ext cx="724931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300" b="1" dirty="0">
                <a:solidFill>
                  <a:schemeClr val="bg1"/>
                </a:solidFill>
                <a:latin typeface="Open Sans Condensed" charset="0"/>
                <a:ea typeface="Open Sans Condensed" charset="0"/>
                <a:cs typeface="Open Sans Condensed" charset="0"/>
              </a:rPr>
              <a:t>WHEN PRICES EXCEED EQUILIBRIUM</a:t>
            </a:r>
            <a:endParaRPr lang="en-US" sz="2800" b="1" dirty="0">
              <a:solidFill>
                <a:schemeClr val="bg1"/>
              </a:solidFill>
              <a:latin typeface="Open Sans Condensed" charset="0"/>
              <a:ea typeface="Open Sans Condensed" charset="0"/>
              <a:cs typeface="Open Sans Condensed" charset="0"/>
            </a:endParaRPr>
          </a:p>
        </p:txBody>
      </p:sp>
      <p:sp>
        <p:nvSpPr>
          <p:cNvPr id="106" name="Rectangle 7"/>
          <p:cNvSpPr>
            <a:spLocks noChangeArrowheads="1"/>
          </p:cNvSpPr>
          <p:nvPr/>
        </p:nvSpPr>
        <p:spPr bwMode="auto">
          <a:xfrm>
            <a:off x="2209800" y="3352800"/>
            <a:ext cx="4113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300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7" name="Rectangle 8"/>
          <p:cNvSpPr>
            <a:spLocks noChangeArrowheads="1"/>
          </p:cNvSpPr>
          <p:nvPr/>
        </p:nvSpPr>
        <p:spPr bwMode="auto">
          <a:xfrm>
            <a:off x="2451101" y="310197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9" name="Rectangle 10"/>
          <p:cNvSpPr>
            <a:spLocks noChangeArrowheads="1"/>
          </p:cNvSpPr>
          <p:nvPr/>
        </p:nvSpPr>
        <p:spPr bwMode="auto">
          <a:xfrm>
            <a:off x="2451101" y="3589337"/>
            <a:ext cx="603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3" name="Rectangle 14"/>
          <p:cNvSpPr>
            <a:spLocks noChangeArrowheads="1"/>
          </p:cNvSpPr>
          <p:nvPr/>
        </p:nvSpPr>
        <p:spPr bwMode="auto">
          <a:xfrm>
            <a:off x="2544762" y="5605462"/>
            <a:ext cx="12223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0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4" name="Rectangle 15"/>
          <p:cNvSpPr>
            <a:spLocks noChangeArrowheads="1"/>
          </p:cNvSpPr>
          <p:nvPr/>
        </p:nvSpPr>
        <p:spPr bwMode="auto">
          <a:xfrm>
            <a:off x="4572000" y="5715000"/>
            <a:ext cx="304800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20                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5" name="Rectangle 16"/>
          <p:cNvSpPr>
            <a:spLocks noChangeArrowheads="1"/>
          </p:cNvSpPr>
          <p:nvPr/>
        </p:nvSpPr>
        <p:spPr bwMode="auto">
          <a:xfrm>
            <a:off x="7669212" y="5410201"/>
            <a:ext cx="17953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b="1" i="1" dirty="0">
                <a:solidFill>
                  <a:srgbClr val="1F1A17"/>
                </a:solidFill>
                <a:latin typeface="Arial" pitchFamily="34" charset="0"/>
              </a:rPr>
              <a:t>Q</a:t>
            </a:r>
            <a:endParaRPr lang="en-US" sz="2800" i="1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20" name="Line 23"/>
          <p:cNvSpPr>
            <a:spLocks noChangeShapeType="1"/>
          </p:cNvSpPr>
          <p:nvPr/>
        </p:nvSpPr>
        <p:spPr bwMode="auto">
          <a:xfrm>
            <a:off x="2619217" y="350361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Line 34"/>
          <p:cNvSpPr>
            <a:spLocks noChangeShapeType="1"/>
          </p:cNvSpPr>
          <p:nvPr/>
        </p:nvSpPr>
        <p:spPr bwMode="auto">
          <a:xfrm>
            <a:off x="4681856" y="5562600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Text Box 37"/>
          <p:cNvSpPr txBox="1">
            <a:spLocks noChangeArrowheads="1"/>
          </p:cNvSpPr>
          <p:nvPr/>
        </p:nvSpPr>
        <p:spPr bwMode="auto">
          <a:xfrm>
            <a:off x="2335212" y="1295401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 sz="40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i="1" dirty="0"/>
              <a:t>P</a:t>
            </a:r>
          </a:p>
        </p:txBody>
      </p:sp>
      <p:sp>
        <p:nvSpPr>
          <p:cNvPr id="59" name="Text Box 11"/>
          <p:cNvSpPr txBox="1">
            <a:spLocks noChangeArrowheads="1"/>
          </p:cNvSpPr>
          <p:nvPr/>
        </p:nvSpPr>
        <p:spPr bwMode="auto">
          <a:xfrm>
            <a:off x="6407150" y="1504950"/>
            <a:ext cx="450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1" dirty="0">
                <a:solidFill>
                  <a:srgbClr val="0070C0"/>
                </a:solidFill>
                <a:latin typeface="Arial" charset="0"/>
              </a:rPr>
              <a:t>S</a:t>
            </a:r>
            <a:r>
              <a:rPr lang="en-US" altLang="en-US" sz="2000" b="1" baseline="-25000" dirty="0">
                <a:solidFill>
                  <a:srgbClr val="0070C0"/>
                </a:solidFill>
                <a:latin typeface="Arial" charset="0"/>
              </a:rPr>
              <a:t>0</a:t>
            </a:r>
          </a:p>
        </p:txBody>
      </p:sp>
      <p:sp>
        <p:nvSpPr>
          <p:cNvPr id="61" name="Text Box 12"/>
          <p:cNvSpPr txBox="1">
            <a:spLocks noChangeArrowheads="1"/>
          </p:cNvSpPr>
          <p:nvPr/>
        </p:nvSpPr>
        <p:spPr bwMode="auto">
          <a:xfrm>
            <a:off x="6545264" y="5010150"/>
            <a:ext cx="465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1" dirty="0">
                <a:solidFill>
                  <a:srgbClr val="FF0000"/>
                </a:solidFill>
                <a:latin typeface="Arial" charset="0"/>
              </a:rPr>
              <a:t>D</a:t>
            </a:r>
            <a:r>
              <a:rPr lang="en-US" altLang="en-US" sz="2000" b="1" baseline="-25000" dirty="0">
                <a:solidFill>
                  <a:srgbClr val="FF0000"/>
                </a:solidFill>
                <a:latin typeface="Arial" charset="0"/>
              </a:rPr>
              <a:t>0</a:t>
            </a:r>
          </a:p>
        </p:txBody>
      </p:sp>
      <p:sp>
        <p:nvSpPr>
          <p:cNvPr id="64" name="Line 13"/>
          <p:cNvSpPr>
            <a:spLocks noChangeShapeType="1"/>
          </p:cNvSpPr>
          <p:nvPr/>
        </p:nvSpPr>
        <p:spPr bwMode="auto">
          <a:xfrm flipH="1">
            <a:off x="2747962" y="35052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Calibri" pitchFamily="34" charset="0"/>
              <a:cs typeface="Arial" charset="0"/>
            </a:endParaRPr>
          </a:p>
        </p:txBody>
      </p:sp>
      <p:cxnSp>
        <p:nvCxnSpPr>
          <p:cNvPr id="66" name="Straight Connector 34"/>
          <p:cNvCxnSpPr>
            <a:cxnSpLocks noChangeShapeType="1"/>
          </p:cNvCxnSpPr>
          <p:nvPr/>
        </p:nvCxnSpPr>
        <p:spPr bwMode="auto">
          <a:xfrm>
            <a:off x="4671218" y="3429000"/>
            <a:ext cx="795" cy="2027234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1" name="Straight Connector 50"/>
          <p:cNvCxnSpPr/>
          <p:nvPr/>
        </p:nvCxnSpPr>
        <p:spPr>
          <a:xfrm>
            <a:off x="2743200" y="5532435"/>
            <a:ext cx="487680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8"/>
          <p:cNvSpPr>
            <a:spLocks noChangeArrowheads="1"/>
          </p:cNvSpPr>
          <p:nvPr/>
        </p:nvSpPr>
        <p:spPr bwMode="auto">
          <a:xfrm>
            <a:off x="2446498" y="13716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dirty="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36" name="Rectangle 8"/>
          <p:cNvSpPr>
            <a:spLocks noChangeArrowheads="1"/>
          </p:cNvSpPr>
          <p:nvPr/>
        </p:nvSpPr>
        <p:spPr bwMode="auto">
          <a:xfrm>
            <a:off x="2518095" y="35814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39" name="Rectangle 8"/>
          <p:cNvSpPr>
            <a:spLocks noChangeArrowheads="1"/>
          </p:cNvSpPr>
          <p:nvPr/>
        </p:nvSpPr>
        <p:spPr bwMode="auto">
          <a:xfrm>
            <a:off x="2518095" y="355917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6" name="Isosceles Triangle 5"/>
          <p:cNvSpPr/>
          <p:nvPr/>
        </p:nvSpPr>
        <p:spPr>
          <a:xfrm rot="19051192">
            <a:off x="1951538" y="3292241"/>
            <a:ext cx="2619199" cy="1270469"/>
          </a:xfrm>
          <a:prstGeom prst="triangle">
            <a:avLst>
              <a:gd name="adj" fmla="val 47103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2743200" y="1883568"/>
            <a:ext cx="3663950" cy="3374234"/>
          </a:xfrm>
          <a:prstGeom prst="line">
            <a:avLst/>
          </a:prstGeom>
          <a:ln w="444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 Box 37"/>
          <p:cNvSpPr txBox="1">
            <a:spLocks noChangeArrowheads="1"/>
          </p:cNvSpPr>
          <p:nvPr/>
        </p:nvSpPr>
        <p:spPr bwMode="auto">
          <a:xfrm>
            <a:off x="2819399" y="3620870"/>
            <a:ext cx="139461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 sz="40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latin typeface="Open Sans" charset="0"/>
                <a:ea typeface="Open Sans" charset="0"/>
                <a:cs typeface="Open Sans" charset="0"/>
              </a:rPr>
              <a:t>producer surplus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29382" y="3276601"/>
            <a:ext cx="2943219" cy="658497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Transferred to producers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33" name="Isosceles Triangle 32"/>
          <p:cNvSpPr/>
          <p:nvPr/>
        </p:nvSpPr>
        <p:spPr>
          <a:xfrm>
            <a:off x="2776538" y="1774825"/>
            <a:ext cx="1952624" cy="1708780"/>
          </a:xfrm>
          <a:prstGeom prst="triangle">
            <a:avLst>
              <a:gd name="adj" fmla="val 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2743200" y="1752600"/>
            <a:ext cx="3810000" cy="3349128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19"/>
          <p:cNvSpPr>
            <a:spLocks noChangeArrowheads="1"/>
          </p:cNvSpPr>
          <p:nvPr/>
        </p:nvSpPr>
        <p:spPr bwMode="auto">
          <a:xfrm>
            <a:off x="4579777" y="3385343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  <a:latin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2743200" y="1371601"/>
            <a:ext cx="0" cy="41608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1" y="2743200"/>
            <a:ext cx="1438275" cy="76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" name="Rectangle 15"/>
          <p:cNvSpPr>
            <a:spLocks noChangeArrowheads="1"/>
          </p:cNvSpPr>
          <p:nvPr/>
        </p:nvSpPr>
        <p:spPr bwMode="auto">
          <a:xfrm>
            <a:off x="3581400" y="5715000"/>
            <a:ext cx="304800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10                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37" name="Line 34"/>
          <p:cNvSpPr>
            <a:spLocks noChangeShapeType="1"/>
          </p:cNvSpPr>
          <p:nvPr/>
        </p:nvSpPr>
        <p:spPr bwMode="auto">
          <a:xfrm>
            <a:off x="3691256" y="5562600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Rectangle 7"/>
          <p:cNvSpPr>
            <a:spLocks noChangeArrowheads="1"/>
          </p:cNvSpPr>
          <p:nvPr/>
        </p:nvSpPr>
        <p:spPr bwMode="auto">
          <a:xfrm>
            <a:off x="2209800" y="2460625"/>
            <a:ext cx="4113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400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41" name="Line 23"/>
          <p:cNvSpPr>
            <a:spLocks noChangeShapeType="1"/>
          </p:cNvSpPr>
          <p:nvPr/>
        </p:nvSpPr>
        <p:spPr bwMode="auto">
          <a:xfrm>
            <a:off x="2621143" y="2590800"/>
            <a:ext cx="159941" cy="0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42" name="Straight Connector 34"/>
          <p:cNvCxnSpPr>
            <a:cxnSpLocks noChangeShapeType="1"/>
          </p:cNvCxnSpPr>
          <p:nvPr/>
        </p:nvCxnSpPr>
        <p:spPr bwMode="auto">
          <a:xfrm>
            <a:off x="3690461" y="2591430"/>
            <a:ext cx="795" cy="2941004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7" name="Straight Connector 6"/>
          <p:cNvCxnSpPr/>
          <p:nvPr/>
        </p:nvCxnSpPr>
        <p:spPr>
          <a:xfrm flipH="1">
            <a:off x="2743200" y="2590800"/>
            <a:ext cx="97631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429382" y="2362201"/>
            <a:ext cx="2943219" cy="658497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New consumer surplus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3505200" y="4751704"/>
            <a:ext cx="2667000" cy="658497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Deadweight loss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3538538" y="1017904"/>
            <a:ext cx="5910263" cy="462440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Price rises to $400; quantity falls to 10.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784893" y="2590800"/>
            <a:ext cx="905568" cy="9231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/>
          <p:cNvSpPr/>
          <p:nvPr/>
        </p:nvSpPr>
        <p:spPr>
          <a:xfrm rot="5400000">
            <a:off x="3297951" y="2983310"/>
            <a:ext cx="1790385" cy="1005366"/>
          </a:xfrm>
          <a:prstGeom prst="triangl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Arrow Connector 66"/>
          <p:cNvCxnSpPr>
            <a:stCxn id="55" idx="0"/>
          </p:cNvCxnSpPr>
          <p:nvPr/>
        </p:nvCxnSpPr>
        <p:spPr>
          <a:xfrm flipH="1" flipV="1">
            <a:off x="4038600" y="3503615"/>
            <a:ext cx="800100" cy="1248089"/>
          </a:xfrm>
          <a:prstGeom prst="straightConnector1">
            <a:avLst/>
          </a:prstGeom>
          <a:ln w="38100">
            <a:solidFill>
              <a:srgbClr val="00808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70" idx="1"/>
          </p:cNvCxnSpPr>
          <p:nvPr/>
        </p:nvCxnSpPr>
        <p:spPr>
          <a:xfrm flipH="1" flipV="1">
            <a:off x="3200401" y="3048001"/>
            <a:ext cx="3228981" cy="557849"/>
          </a:xfrm>
          <a:prstGeom prst="straightConnector1">
            <a:avLst/>
          </a:prstGeom>
          <a:ln w="38100">
            <a:solidFill>
              <a:srgbClr val="00808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 flipV="1">
            <a:off x="3048000" y="2362200"/>
            <a:ext cx="3352800" cy="304800"/>
          </a:xfrm>
          <a:prstGeom prst="straightConnector1">
            <a:avLst/>
          </a:prstGeom>
          <a:ln w="38100">
            <a:solidFill>
              <a:srgbClr val="00808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144000" y="6553200"/>
            <a:ext cx="8171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Century Gothic" panose="020B0502020202020204" pitchFamily="34" charset="0"/>
              </a:rPr>
              <a:t>SLIDE </a:t>
            </a:r>
            <a:fld id="{6FD6B7A6-E1EC-4D2B-BE3B-190BA12621E0}" type="slidenum">
              <a:rPr lang="en-US" sz="110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9</a:t>
            </a:fld>
            <a:endParaRPr lang="en-US" sz="11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338301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8" grpId="0"/>
      <p:bldP spid="70" grpId="0" animBg="1"/>
      <p:bldP spid="33" grpId="0" animBg="1"/>
      <p:bldP spid="33" grpId="1" animBg="1"/>
      <p:bldP spid="36" grpId="0"/>
      <p:bldP spid="37" grpId="0" animBg="1"/>
      <p:bldP spid="38" grpId="0"/>
      <p:bldP spid="41" grpId="0" animBg="1"/>
      <p:bldP spid="52" grpId="0" animBg="1"/>
      <p:bldP spid="55" grpId="0" animBg="1"/>
      <p:bldP spid="56" grpId="0" animBg="1"/>
      <p:bldP spid="18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ound Diagonal Corner Rectangle 52"/>
          <p:cNvSpPr/>
          <p:nvPr/>
        </p:nvSpPr>
        <p:spPr>
          <a:xfrm>
            <a:off x="1676400" y="152400"/>
            <a:ext cx="7239000" cy="6096000"/>
          </a:xfrm>
          <a:prstGeom prst="round2DiagRect">
            <a:avLst>
              <a:gd name="adj1" fmla="val 6583"/>
              <a:gd name="adj2" fmla="val 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 Diagonal Corner Rectangle 53"/>
          <p:cNvSpPr/>
          <p:nvPr/>
        </p:nvSpPr>
        <p:spPr>
          <a:xfrm>
            <a:off x="1676400" y="152400"/>
            <a:ext cx="8001000" cy="71807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1600201" y="211353"/>
            <a:ext cx="809623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300" b="1" dirty="0">
                <a:solidFill>
                  <a:schemeClr val="bg1"/>
                </a:solidFill>
                <a:latin typeface="Open Sans Condensed" charset="0"/>
                <a:ea typeface="Open Sans Condensed" charset="0"/>
                <a:cs typeface="Open Sans Condensed" charset="0"/>
              </a:rPr>
              <a:t>WHEN PRICES ARE BELOW EQUILIBRIUM</a:t>
            </a:r>
            <a:endParaRPr lang="en-US" sz="2800" b="1" dirty="0">
              <a:solidFill>
                <a:schemeClr val="bg1"/>
              </a:solidFill>
              <a:latin typeface="Open Sans Condensed" charset="0"/>
              <a:ea typeface="Open Sans Condensed" charset="0"/>
              <a:cs typeface="Open Sans Condensed" charset="0"/>
            </a:endParaRPr>
          </a:p>
        </p:txBody>
      </p:sp>
      <p:sp>
        <p:nvSpPr>
          <p:cNvPr id="106" name="Rectangle 7"/>
          <p:cNvSpPr>
            <a:spLocks noChangeArrowheads="1"/>
          </p:cNvSpPr>
          <p:nvPr/>
        </p:nvSpPr>
        <p:spPr bwMode="auto">
          <a:xfrm>
            <a:off x="2209800" y="3352800"/>
            <a:ext cx="4113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300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7" name="Rectangle 8"/>
          <p:cNvSpPr>
            <a:spLocks noChangeArrowheads="1"/>
          </p:cNvSpPr>
          <p:nvPr/>
        </p:nvSpPr>
        <p:spPr bwMode="auto">
          <a:xfrm>
            <a:off x="2451101" y="310197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9" name="Rectangle 10"/>
          <p:cNvSpPr>
            <a:spLocks noChangeArrowheads="1"/>
          </p:cNvSpPr>
          <p:nvPr/>
        </p:nvSpPr>
        <p:spPr bwMode="auto">
          <a:xfrm>
            <a:off x="2451101" y="3589337"/>
            <a:ext cx="603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3" name="Rectangle 14"/>
          <p:cNvSpPr>
            <a:spLocks noChangeArrowheads="1"/>
          </p:cNvSpPr>
          <p:nvPr/>
        </p:nvSpPr>
        <p:spPr bwMode="auto">
          <a:xfrm>
            <a:off x="2544762" y="5605462"/>
            <a:ext cx="12223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0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4" name="Rectangle 15"/>
          <p:cNvSpPr>
            <a:spLocks noChangeArrowheads="1"/>
          </p:cNvSpPr>
          <p:nvPr/>
        </p:nvSpPr>
        <p:spPr bwMode="auto">
          <a:xfrm>
            <a:off x="4572000" y="5715000"/>
            <a:ext cx="304800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20                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5" name="Rectangle 16"/>
          <p:cNvSpPr>
            <a:spLocks noChangeArrowheads="1"/>
          </p:cNvSpPr>
          <p:nvPr/>
        </p:nvSpPr>
        <p:spPr bwMode="auto">
          <a:xfrm>
            <a:off x="7669212" y="5410201"/>
            <a:ext cx="17953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b="1" i="1" dirty="0">
                <a:solidFill>
                  <a:srgbClr val="1F1A17"/>
                </a:solidFill>
                <a:latin typeface="Arial" pitchFamily="34" charset="0"/>
              </a:rPr>
              <a:t>Q</a:t>
            </a:r>
            <a:endParaRPr lang="en-US" sz="2800" i="1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20" name="Line 23"/>
          <p:cNvSpPr>
            <a:spLocks noChangeShapeType="1"/>
          </p:cNvSpPr>
          <p:nvPr/>
        </p:nvSpPr>
        <p:spPr bwMode="auto">
          <a:xfrm>
            <a:off x="2619217" y="350361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Line 34"/>
          <p:cNvSpPr>
            <a:spLocks noChangeShapeType="1"/>
          </p:cNvSpPr>
          <p:nvPr/>
        </p:nvSpPr>
        <p:spPr bwMode="auto">
          <a:xfrm>
            <a:off x="4681856" y="5562600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Text Box 37"/>
          <p:cNvSpPr txBox="1">
            <a:spLocks noChangeArrowheads="1"/>
          </p:cNvSpPr>
          <p:nvPr/>
        </p:nvSpPr>
        <p:spPr bwMode="auto">
          <a:xfrm>
            <a:off x="2335212" y="1295401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 sz="40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i="1" dirty="0"/>
              <a:t>P</a:t>
            </a:r>
          </a:p>
        </p:txBody>
      </p:sp>
      <p:sp>
        <p:nvSpPr>
          <p:cNvPr id="59" name="Text Box 11"/>
          <p:cNvSpPr txBox="1">
            <a:spLocks noChangeArrowheads="1"/>
          </p:cNvSpPr>
          <p:nvPr/>
        </p:nvSpPr>
        <p:spPr bwMode="auto">
          <a:xfrm>
            <a:off x="6407150" y="1504950"/>
            <a:ext cx="450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1" dirty="0">
                <a:solidFill>
                  <a:srgbClr val="0070C0"/>
                </a:solidFill>
                <a:latin typeface="Arial" charset="0"/>
              </a:rPr>
              <a:t>S</a:t>
            </a:r>
            <a:r>
              <a:rPr lang="en-US" altLang="en-US" sz="2000" b="1" baseline="-25000" dirty="0">
                <a:solidFill>
                  <a:srgbClr val="0070C0"/>
                </a:solidFill>
                <a:latin typeface="Arial" charset="0"/>
              </a:rPr>
              <a:t>0</a:t>
            </a:r>
          </a:p>
        </p:txBody>
      </p:sp>
      <p:sp>
        <p:nvSpPr>
          <p:cNvPr id="61" name="Text Box 12"/>
          <p:cNvSpPr txBox="1">
            <a:spLocks noChangeArrowheads="1"/>
          </p:cNvSpPr>
          <p:nvPr/>
        </p:nvSpPr>
        <p:spPr bwMode="auto">
          <a:xfrm>
            <a:off x="6545264" y="5010150"/>
            <a:ext cx="465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1" dirty="0">
                <a:solidFill>
                  <a:srgbClr val="FF0000"/>
                </a:solidFill>
                <a:latin typeface="Arial" charset="0"/>
              </a:rPr>
              <a:t>D</a:t>
            </a:r>
            <a:r>
              <a:rPr lang="en-US" altLang="en-US" sz="2000" b="1" baseline="-25000" dirty="0">
                <a:solidFill>
                  <a:srgbClr val="FF0000"/>
                </a:solidFill>
                <a:latin typeface="Arial" charset="0"/>
              </a:rPr>
              <a:t>0</a:t>
            </a:r>
          </a:p>
        </p:txBody>
      </p:sp>
      <p:sp>
        <p:nvSpPr>
          <p:cNvPr id="64" name="Line 13"/>
          <p:cNvSpPr>
            <a:spLocks noChangeShapeType="1"/>
          </p:cNvSpPr>
          <p:nvPr/>
        </p:nvSpPr>
        <p:spPr bwMode="auto">
          <a:xfrm flipH="1">
            <a:off x="2747962" y="35052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Calibri" pitchFamily="34" charset="0"/>
              <a:cs typeface="Arial" charset="0"/>
            </a:endParaRPr>
          </a:p>
        </p:txBody>
      </p:sp>
      <p:cxnSp>
        <p:nvCxnSpPr>
          <p:cNvPr id="66" name="Straight Connector 34"/>
          <p:cNvCxnSpPr>
            <a:cxnSpLocks noChangeShapeType="1"/>
          </p:cNvCxnSpPr>
          <p:nvPr/>
        </p:nvCxnSpPr>
        <p:spPr bwMode="auto">
          <a:xfrm>
            <a:off x="4671218" y="3513934"/>
            <a:ext cx="795" cy="2027234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1" name="Straight Connector 50"/>
          <p:cNvCxnSpPr/>
          <p:nvPr/>
        </p:nvCxnSpPr>
        <p:spPr>
          <a:xfrm>
            <a:off x="2743200" y="5532435"/>
            <a:ext cx="487680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8"/>
          <p:cNvSpPr>
            <a:spLocks noChangeArrowheads="1"/>
          </p:cNvSpPr>
          <p:nvPr/>
        </p:nvSpPr>
        <p:spPr bwMode="auto">
          <a:xfrm>
            <a:off x="2446498" y="13716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36" name="Rectangle 8"/>
          <p:cNvSpPr>
            <a:spLocks noChangeArrowheads="1"/>
          </p:cNvSpPr>
          <p:nvPr/>
        </p:nvSpPr>
        <p:spPr bwMode="auto">
          <a:xfrm>
            <a:off x="2518095" y="35814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39" name="Rectangle 8"/>
          <p:cNvSpPr>
            <a:spLocks noChangeArrowheads="1"/>
          </p:cNvSpPr>
          <p:nvPr/>
        </p:nvSpPr>
        <p:spPr bwMode="auto">
          <a:xfrm>
            <a:off x="2518095" y="355917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6" name="Isosceles Triangle 5"/>
          <p:cNvSpPr/>
          <p:nvPr/>
        </p:nvSpPr>
        <p:spPr>
          <a:xfrm rot="19051192">
            <a:off x="1944555" y="3275831"/>
            <a:ext cx="2621276" cy="1300551"/>
          </a:xfrm>
          <a:prstGeom prst="triangle">
            <a:avLst>
              <a:gd name="adj" fmla="val 47103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2743200" y="1883568"/>
            <a:ext cx="3663950" cy="3374234"/>
          </a:xfrm>
          <a:prstGeom prst="line">
            <a:avLst/>
          </a:prstGeom>
          <a:ln w="444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 Box 37"/>
          <p:cNvSpPr txBox="1">
            <a:spLocks noChangeArrowheads="1"/>
          </p:cNvSpPr>
          <p:nvPr/>
        </p:nvSpPr>
        <p:spPr bwMode="auto">
          <a:xfrm>
            <a:off x="2819400" y="3620870"/>
            <a:ext cx="121920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 sz="40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/>
              <a:t>producer surplus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29382" y="3276601"/>
            <a:ext cx="2943219" cy="658497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Transferred to consumers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33" name="Isosceles Triangle 32"/>
          <p:cNvSpPr/>
          <p:nvPr/>
        </p:nvSpPr>
        <p:spPr>
          <a:xfrm>
            <a:off x="2776538" y="1774825"/>
            <a:ext cx="1952624" cy="1708780"/>
          </a:xfrm>
          <a:prstGeom prst="triangle">
            <a:avLst>
              <a:gd name="adj" fmla="val 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2743200" y="1752600"/>
            <a:ext cx="3810000" cy="3349128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19"/>
          <p:cNvSpPr>
            <a:spLocks noChangeArrowheads="1"/>
          </p:cNvSpPr>
          <p:nvPr/>
        </p:nvSpPr>
        <p:spPr bwMode="auto">
          <a:xfrm>
            <a:off x="4579777" y="3385343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  <a:latin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2743200" y="1371601"/>
            <a:ext cx="0" cy="41608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1" y="2743200"/>
            <a:ext cx="1438275" cy="76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" name="Rectangle 15"/>
          <p:cNvSpPr>
            <a:spLocks noChangeArrowheads="1"/>
          </p:cNvSpPr>
          <p:nvPr/>
        </p:nvSpPr>
        <p:spPr bwMode="auto">
          <a:xfrm>
            <a:off x="3581400" y="5715000"/>
            <a:ext cx="304800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10                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37" name="Line 34"/>
          <p:cNvSpPr>
            <a:spLocks noChangeShapeType="1"/>
          </p:cNvSpPr>
          <p:nvPr/>
        </p:nvSpPr>
        <p:spPr bwMode="auto">
          <a:xfrm>
            <a:off x="3691256" y="5562600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Rectangle 7"/>
          <p:cNvSpPr>
            <a:spLocks noChangeArrowheads="1"/>
          </p:cNvSpPr>
          <p:nvPr/>
        </p:nvSpPr>
        <p:spPr bwMode="auto">
          <a:xfrm>
            <a:off x="2209800" y="4234190"/>
            <a:ext cx="4113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200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41" name="Line 23"/>
          <p:cNvSpPr>
            <a:spLocks noChangeShapeType="1"/>
          </p:cNvSpPr>
          <p:nvPr/>
        </p:nvSpPr>
        <p:spPr bwMode="auto">
          <a:xfrm>
            <a:off x="2621143" y="4364365"/>
            <a:ext cx="159941" cy="0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42" name="Straight Connector 34"/>
          <p:cNvCxnSpPr>
            <a:cxnSpLocks noChangeShapeType="1"/>
            <a:stCxn id="21" idx="4"/>
          </p:cNvCxnSpPr>
          <p:nvPr/>
        </p:nvCxnSpPr>
        <p:spPr bwMode="auto">
          <a:xfrm>
            <a:off x="3690461" y="4381186"/>
            <a:ext cx="795" cy="1151248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7" name="Straight Connector 6"/>
          <p:cNvCxnSpPr/>
          <p:nvPr/>
        </p:nvCxnSpPr>
        <p:spPr>
          <a:xfrm flipH="1">
            <a:off x="2743200" y="4343400"/>
            <a:ext cx="97631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429382" y="4114801"/>
            <a:ext cx="2943219" cy="658497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New producer surplus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477000" y="2389504"/>
            <a:ext cx="2667000" cy="658497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Deadweight loss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3538538" y="1017904"/>
            <a:ext cx="5910263" cy="462440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Price falls to $200; quantity falls to 10.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776538" y="3503614"/>
            <a:ext cx="898683" cy="85325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/>
          <p:cNvSpPr/>
          <p:nvPr/>
        </p:nvSpPr>
        <p:spPr>
          <a:xfrm rot="5400000">
            <a:off x="3297951" y="2983310"/>
            <a:ext cx="1790385" cy="1005366"/>
          </a:xfrm>
          <a:prstGeom prst="triangl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Arrow Connector 66"/>
          <p:cNvCxnSpPr/>
          <p:nvPr/>
        </p:nvCxnSpPr>
        <p:spPr>
          <a:xfrm flipH="1">
            <a:off x="4038600" y="2720184"/>
            <a:ext cx="2438400" cy="706981"/>
          </a:xfrm>
          <a:prstGeom prst="straightConnector1">
            <a:avLst/>
          </a:prstGeom>
          <a:ln w="38100">
            <a:solidFill>
              <a:srgbClr val="00808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70" idx="1"/>
          </p:cNvCxnSpPr>
          <p:nvPr/>
        </p:nvCxnSpPr>
        <p:spPr>
          <a:xfrm flipH="1">
            <a:off x="3261137" y="3605850"/>
            <a:ext cx="3168245" cy="338185"/>
          </a:xfrm>
          <a:prstGeom prst="straightConnector1">
            <a:avLst/>
          </a:prstGeom>
          <a:ln w="38100">
            <a:solidFill>
              <a:srgbClr val="00808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2971800" y="4419600"/>
            <a:ext cx="3429000" cy="228600"/>
          </a:xfrm>
          <a:prstGeom prst="straightConnector1">
            <a:avLst/>
          </a:prstGeom>
          <a:ln w="38100">
            <a:solidFill>
              <a:srgbClr val="00808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144000" y="6553200"/>
            <a:ext cx="8171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Century Gothic" panose="020B0502020202020204" pitchFamily="34" charset="0"/>
              </a:rPr>
              <a:t>SLIDE </a:t>
            </a:r>
            <a:fld id="{6FD6B7A6-E1EC-4D2B-BE3B-190BA12621E0}" type="slidenum">
              <a:rPr lang="en-US" sz="110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10</a:t>
            </a:fld>
            <a:endParaRPr lang="en-US" sz="11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702077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8" grpId="0"/>
      <p:bldP spid="70" grpId="0" animBg="1"/>
      <p:bldP spid="33" grpId="0" animBg="1"/>
      <p:bldP spid="33" grpId="1" animBg="1"/>
      <p:bldP spid="36" grpId="0"/>
      <p:bldP spid="37" grpId="0" animBg="1"/>
      <p:bldP spid="38" grpId="0"/>
      <p:bldP spid="41" grpId="0" animBg="1"/>
      <p:bldP spid="52" grpId="0" animBg="1"/>
      <p:bldP spid="55" grpId="0" animBg="1"/>
      <p:bldP spid="56" grpId="0" animBg="1"/>
      <p:bldP spid="18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D203C-65D2-8742-9F1B-7D1A44916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Efficiency of Markets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4C2B1-663B-5240-B4ED-A66CB3F38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Competitive markets are usually efficient:</a:t>
            </a:r>
          </a:p>
          <a:p>
            <a:pPr marL="914400" indent="-447675">
              <a:spcAft>
                <a:spcPts val="600"/>
              </a:spcAft>
              <a:buAutoNum type="arabicPeriod"/>
            </a:pPr>
            <a:r>
              <a:rPr lang="en-US" dirty="0"/>
              <a:t>Allocate consumption to the potential </a:t>
            </a:r>
            <a:r>
              <a:rPr lang="en-US" b="1" dirty="0"/>
              <a:t>buyers who most value it.</a:t>
            </a:r>
          </a:p>
          <a:p>
            <a:pPr marL="914400" indent="-447675">
              <a:spcAft>
                <a:spcPts val="600"/>
              </a:spcAft>
              <a:buAutoNum type="arabicPeriod"/>
            </a:pPr>
            <a:r>
              <a:rPr lang="en-US" dirty="0"/>
              <a:t>Allocate sales to potential </a:t>
            </a:r>
            <a:r>
              <a:rPr lang="en-US" b="1" dirty="0"/>
              <a:t>sellers</a:t>
            </a:r>
            <a:r>
              <a:rPr lang="en-US" dirty="0"/>
              <a:t> who most value right to sell the good (e.g., </a:t>
            </a:r>
            <a:r>
              <a:rPr lang="en-US" b="1" dirty="0"/>
              <a:t>who have the lowest cost</a:t>
            </a:r>
            <a:r>
              <a:rPr lang="en-US" dirty="0"/>
              <a:t>).</a:t>
            </a:r>
          </a:p>
          <a:p>
            <a:pPr marL="914400" indent="-447675">
              <a:spcAft>
                <a:spcPts val="600"/>
              </a:spcAft>
              <a:buAutoNum type="arabicPeriod"/>
            </a:pPr>
            <a:r>
              <a:rPr lang="en-US" dirty="0"/>
              <a:t>They ensure that </a:t>
            </a:r>
            <a:r>
              <a:rPr lang="en-US" b="1" dirty="0"/>
              <a:t>all transactions are mutually beneficial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656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E35A3-BC47-9A48-9B90-676EA0DFE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markets </a:t>
            </a:r>
            <a:r>
              <a:rPr lang="en-US" b="1" i="1" dirty="0"/>
              <a:t>typically</a:t>
            </a:r>
            <a:r>
              <a:rPr lang="en-US" b="1" dirty="0"/>
              <a:t>  work so well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6CB3491-0427-3742-97B6-953E804FA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Well-functioning markets are effective because of:</a:t>
            </a:r>
          </a:p>
          <a:p>
            <a:pPr marL="914400" indent="-447675">
              <a:buFont typeface="+mj-lt"/>
              <a:buAutoNum type="arabicPeriod"/>
            </a:pPr>
            <a:r>
              <a:rPr lang="en-US" sz="2800" b="1" dirty="0"/>
              <a:t>Property rights: </a:t>
            </a:r>
            <a:r>
              <a:rPr lang="en-US" sz="2800" dirty="0"/>
              <a:t>the rights of owners of valuable items, whether resources or goods, to use those items as they choose.</a:t>
            </a:r>
            <a:endParaRPr lang="en-US" sz="2600" b="1" dirty="0"/>
          </a:p>
          <a:p>
            <a:pPr marL="914400" indent="-447675">
              <a:buFont typeface="+mj-lt"/>
              <a:buAutoNum type="arabicPeriod"/>
            </a:pPr>
            <a:r>
              <a:rPr lang="en-US" sz="2600" b="1" dirty="0"/>
              <a:t>Economic signals: </a:t>
            </a:r>
            <a:r>
              <a:rPr lang="en-US" sz="2800" dirty="0"/>
              <a:t>any piece of information that helps people make better economic decisions.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2358860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1828800" y="1219200"/>
            <a:ext cx="8496300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chemeClr val="tx1">
                  <a:lumMod val="50000"/>
                  <a:lumOff val="50000"/>
                </a:schemeClr>
              </a:buClr>
            </a:pPr>
            <a:endParaRPr lang="en-US" altLang="en-US" dirty="0"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AAC370-2E0D-6A41-B612-8E2EB564F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Four sources of market failures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FC934-886A-5A4B-ACA3-8429D804C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Clr>
                <a:schemeClr val="tx1">
                  <a:lumMod val="50000"/>
                  <a:lumOff val="50000"/>
                </a:schemeClr>
              </a:buClr>
              <a:buNone/>
            </a:pPr>
            <a:r>
              <a:rPr lang="en-US" altLang="en-US" sz="3600" dirty="0">
                <a:solidFill>
                  <a:srgbClr val="C00000"/>
                </a:solidFill>
              </a:rPr>
              <a:t>Markets will not be efficient in the presence of </a:t>
            </a:r>
            <a:r>
              <a:rPr lang="en-US" altLang="en-US" sz="3600" b="1" u="sng" dirty="0">
                <a:solidFill>
                  <a:srgbClr val="C00000"/>
                </a:solidFill>
              </a:rPr>
              <a:t>market failures!</a:t>
            </a:r>
          </a:p>
          <a:p>
            <a:pPr>
              <a:buClr>
                <a:schemeClr val="tx1">
                  <a:lumMod val="50000"/>
                  <a:lumOff val="50000"/>
                </a:schemeClr>
              </a:buClr>
            </a:pPr>
            <a:endParaRPr lang="en-US" altLang="en-US" sz="3600" dirty="0">
              <a:solidFill>
                <a:srgbClr val="C00000"/>
              </a:solidFill>
            </a:endParaRPr>
          </a:p>
          <a:p>
            <a:pPr marL="914400" lvl="1" indent="-457200"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en-US" sz="3200" dirty="0"/>
              <a:t>Lack of competition</a:t>
            </a:r>
          </a:p>
          <a:p>
            <a:pPr marL="914400" lvl="1" indent="-457200"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en-US" sz="3200" dirty="0"/>
              <a:t>Information not shared by all parties</a:t>
            </a:r>
          </a:p>
          <a:p>
            <a:pPr marL="914400" lvl="1" indent="-457200"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en-US" sz="3200" dirty="0"/>
              <a:t>Existence of external benefits/costs (externalities)</a:t>
            </a:r>
          </a:p>
          <a:p>
            <a:pPr marL="914400" lvl="1" indent="-457200"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en-US" sz="3200" dirty="0"/>
              <a:t>Existence of public goods</a:t>
            </a:r>
          </a:p>
        </p:txBody>
      </p:sp>
    </p:spTree>
    <p:extLst>
      <p:ext uri="{BB962C8B-B14F-4D97-AF65-F5344CB8AC3E}">
        <p14:creationId xmlns:p14="http://schemas.microsoft.com/office/powerpoint/2010/main" val="388324144"/>
      </p:ext>
    </p:extLst>
  </p:cSld>
  <p:clrMapOvr>
    <a:masterClrMapping/>
  </p:clrMapOvr>
  <p:transition spd="slow">
    <p:fade thruBlk="1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1121</TotalTime>
  <Words>838</Words>
  <Application>Microsoft Macintosh PowerPoint</Application>
  <PresentationFormat>Widescreen</PresentationFormat>
  <Paragraphs>230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Candara</vt:lpstr>
      <vt:lpstr>Century Gothic</vt:lpstr>
      <vt:lpstr>Gill Sans</vt:lpstr>
      <vt:lpstr>Impact</vt:lpstr>
      <vt:lpstr>Open Sans</vt:lpstr>
      <vt:lpstr>Open Sans Condensed</vt:lpstr>
      <vt:lpstr>Times</vt:lpstr>
      <vt:lpstr>Office Theme</vt:lpstr>
      <vt:lpstr>Consumer and Producer Surplus</vt:lpstr>
      <vt:lpstr>Learning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Efficiency of Markets</vt:lpstr>
      <vt:lpstr>Why markets typically  work so well</vt:lpstr>
      <vt:lpstr>Four sources of market failures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Models: Trade-offs and Trades </dc:title>
  <dc:creator>Emily Beam</dc:creator>
  <cp:lastModifiedBy>Emily Beam</cp:lastModifiedBy>
  <cp:revision>79</cp:revision>
  <cp:lastPrinted>2018-09-07T13:55:49Z</cp:lastPrinted>
  <dcterms:created xsi:type="dcterms:W3CDTF">2017-01-14T13:26:33Z</dcterms:created>
  <dcterms:modified xsi:type="dcterms:W3CDTF">2021-02-04T19:49:44Z</dcterms:modified>
</cp:coreProperties>
</file>